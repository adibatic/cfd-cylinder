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b7cdbcb-aff7-feeb-be69-e06ce696667c}">
          <p14:sldIdLst>
            <p14:sldId id="256"/>
            <p14:sldId id="257"/>
          </p14:sldIdLst>
        </p14:section>
        <p14:section name="What was done" id="{a46ce174-e6b1-96ae-f9fd-568896a99543}">
          <p14:sldIdLst>
            <p14:sldId id="258"/>
          </p14:sldIdLst>
        </p14:section>
        <p14:section name="Results" id="{9c13d889-7b31-2c35-65a8-b2da49bf8cee}">
          <p14:sldIdLst>
            <p14:sldId id="259"/>
            <p14:sldId id="260"/>
          </p14:sldIdLst>
        </p14:section>
        <p14:section name="Can we trust it" id="{4a02fb93-93c4-f3c5-2ddc-ab001fe920f1}">
          <p14:sldIdLst>
            <p14:sldId id="261"/>
            <p14:sldId id="262"/>
          </p14:sldIdLst>
        </p14:section>
        <p14:section name="Limits and purpose" id="{704f78be-bb41-ca61-99f5-29402c0b0681}">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non-technical tour of a simulation project. The picture is a real result: air flowing from left to right past a round pole, seen from above. The red and blue blobs are swirls of air spinning in opposite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shapes are everywhere: lamp posts, chimneys, bridge cables, offshore pipes. Wind does two things to them. It pushes them backwards, and it sheds swirls that shake them side to side. The second one is the sneaky one: a steady rhythm of small pushes, like pushing a child on a swing at the right moment, can build up large vibrations.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computer cannot solve air flow everywhere at once, so it divides the space around the pole into many small cells and solves the equations of air motion cell by cell, in tiny time steps. The sketch shows the idea: cells are thinnest right against the pole, where the air changes fastest, and grow larger farther away. (The real grid is rectangular farther out; this is a simplified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famous enough to have a name: a von Karman vortex street. You can see it in clouds behind islands, and feel it when a flag flaps. Each swirl that breaks off gives the pole a small sideways tug, first one way, then the other. In this case that happens about 25 times every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in everyday units. The steady push is about 6 newtons on every metre of pole, roughly the weight of a 600 gram bag of sugar. The sideways tug is about as strong, but it flips direction 25 times a second. For a tall, thin structure, that rhythm matters more than the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A computer answer depends on how finely you chop up the space. So the whole simulation was run three times, each time with smaller cells. The answers moved a little from coarse to medium, and much less from medium to fine: they are settling down. The same check was done for the size of the time steps. This checking step is called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the grid test and the time-step test gives an error band for each answer. For the push it is less than half a percent; for the rhythm of the swirls, under two percent. That does not yet mean the answer matches reality; it means the computer solved its equations accurately. Whether those equations describe real air well enough is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honest about what this shows. Verification means the computer solved its equations correctly. Validation means checking those equations against the real world, with measurements from wind tunnels. That comparison is the next step. The simulation also makes simplifications: it models a thin slice of the pole rather than the whole thing, and it approximates the small-scale turbulence. Those are expected to make the forces somewhat too large, and the comparison will tell by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takeaways. First, the practical one: engineers need these forces and this rhythm to design structures that stand up to wind and do not start vibrating. Second, the general one: a computer simulation is only as good as the checks behind it. Ask the same question with finer and finer detail until the answer stops changing, and then compare it with real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rtlCol="0"/>
          <a:lstStyle>
            <a:lvl1pPr algn="l" indent="0" marL="0">
              <a:buNone/>
              <a:defRPr lang="en-US" sz="3000" b="1" dirty="0">
                <a:solidFill>
                  <a:schemeClr val="tx1"/>
                </a:solidFill>
                <a:latin typeface="+mj-lt" pitchFamily="34" charset="0"/>
                <a:ea typeface="+mj-lt" pitchFamily="34" charset="-122"/>
                <a:cs typeface="+mj-lt"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rtlCol="0"/>
          <a:lstStyle>
            <a:lvl1pPr algn="l" indent="0" marL="0">
              <a:buNone/>
              <a:defRPr lang="en-US" sz="3000" b="1" dirty="0">
                <a:solidFill>
                  <a:schemeClr val="bg1"/>
                </a:solidFill>
                <a:latin typeface="+mj-lt" pitchFamily="34" charset="0"/>
                <a:ea typeface="+mj-lt" pitchFamily="34" charset="-122"/>
                <a:cs typeface="+mj-lt"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chemeClr val="accent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200" spc="200" kern="0" dirty="0">
                <a:solidFill>
                  <a:schemeClr val="accent3"/>
                </a:solidFill>
              </a:rPr>
              <a:t>A COMPUTER EXPERIMENT</a:t>
            </a:r>
            <a:endParaRPr lang="en-US" sz="1200" dirty="0"/>
          </a:p>
        </p:txBody>
      </p:sp>
      <p:sp>
        <p:nvSpPr>
          <p:cNvPr id="3" name="Cover title"/>
          <p:cNvSpPr txBox="1"/>
          <p:nvPr/>
        </p:nvSpPr>
        <p:spPr>
          <a:xfrm>
            <a:off x="548640" y="777240"/>
            <a:ext cx="8046720" cy="731520"/>
          </a:xfrm>
          <a:prstGeom prst="rect">
            <a:avLst/>
          </a:prstGeom>
          <a:noFill/>
          <a:ln/>
        </p:spPr>
        <p:txBody>
          <a:bodyPr wrap="square" lIns="0" tIns="0" rIns="0" bIns="0" rtlCol="0" anchor="t"/>
          <a:lstStyle/>
          <a:p>
            <a:pPr indent="0" marL="0">
              <a:buNone/>
            </a:pPr>
            <a:r>
              <a:rPr lang="en-US" sz="4000" b="1" dirty="0">
                <a:solidFill>
                  <a:schemeClr val="bg1"/>
                </a:solidFill>
                <a:latin typeface="+mj-lt" pitchFamily="34" charset="0"/>
                <a:ea typeface="+mj-lt" pitchFamily="34" charset="-122"/>
                <a:cs typeface="+mj-lt" pitchFamily="34" charset="-120"/>
              </a:rPr>
              <a:t>When wind meets a pole</a:t>
            </a:r>
            <a:endParaRPr lang="en-US" sz="4000" dirty="0"/>
          </a:p>
        </p:txBody>
      </p:sp>
      <p:sp>
        <p:nvSpPr>
          <p:cNvPr id="4" name="Subtitle"/>
          <p:cNvSpPr txBox="1"/>
          <p:nvPr/>
        </p:nvSpPr>
        <p:spPr>
          <a:xfrm>
            <a:off x="548640" y="1554480"/>
            <a:ext cx="7498080" cy="685800"/>
          </a:xfrm>
          <a:prstGeom prst="rect">
            <a:avLst/>
          </a:prstGeom>
          <a:noFill/>
          <a:ln/>
        </p:spPr>
        <p:txBody>
          <a:bodyPr wrap="square" lIns="0" tIns="0" rIns="0" bIns="0" rtlCol="0" anchor="t"/>
          <a:lstStyle/>
          <a:p>
            <a:pPr indent="0" marL="0">
              <a:buNone/>
            </a:pPr>
            <a:r>
              <a:rPr lang="en-US" sz="1800" dirty="0">
                <a:solidFill>
                  <a:schemeClr val="accent6"/>
                </a:solidFill>
              </a:rPr>
              <a:t>What happens when air flows past a round object, and how we know the computer's answer can be trusted</a:t>
            </a:r>
            <a:endParaRPr lang="en-US" sz="1800" dirty="0"/>
          </a:p>
        </p:txBody>
      </p:sp>
      <p:pic>
        <p:nvPicPr>
          <p:cNvPr id="5" name="Vortex strip" descr="Simulated air flow behind a cylinder: red and blue swirls peel off alternately and drift downstream">    </p:cNvPr>
          <p:cNvPicPr>
            <a:picLocks noChangeAspect="1"/>
          </p:cNvPicPr>
          <p:nvPr/>
        </p:nvPicPr>
        <p:blipFill>
          <a:blip r:embed="rId1"/>
          <a:stretch>
            <a:fillRect/>
          </a:stretch>
        </p:blipFill>
        <p:spPr>
          <a:xfrm>
            <a:off x="548640" y="2514600"/>
            <a:ext cx="8046720" cy="2306726"/>
          </a:xfrm>
          <a:prstGeom prst="rect">
            <a:avLst/>
          </a:prstGeom>
        </p:spPr>
      </p:pic>
      <p:sp>
        <p:nvSpPr>
          <p:cNvPr id="7"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tx1"/>
                </a:solidFill>
                <a:latin typeface="+mj-lt" pitchFamily="34" charset="0"/>
                <a:ea typeface="+mj-lt" pitchFamily="34" charset="-122"/>
                <a:cs typeface="+mj-lt" pitchFamily="34" charset="-120"/>
              </a:rPr>
              <a:t>Why wind around round things matters</a:t>
            </a:r>
            <a:endParaRPr lang="en-US" sz="3000" dirty="0"/>
          </a:p>
        </p:txBody>
      </p:sp>
      <p:sp>
        <p:nvSpPr>
          <p:cNvPr id="3" name="Card It pushes"/>
          <p:cNvSpPr/>
          <p:nvPr/>
        </p:nvSpPr>
        <p:spPr>
          <a:xfrm>
            <a:off x="548640" y="1417320"/>
            <a:ext cx="2499360" cy="3108960"/>
          </a:xfrm>
          <a:prstGeom prst="roundRect">
            <a:avLst>
              <a:gd name="adj" fmla="val 4390"/>
            </a:avLst>
          </a:prstGeom>
          <a:solidFill>
            <a:schemeClr val="bg2"/>
          </a:solidFill>
          <a:ln w="12700">
            <a:solidFill>
              <a:srgbClr val="E4E1D8"/>
            </a:solidFill>
            <a:prstDash val="solid"/>
          </a:ln>
        </p:spPr>
      </p:sp>
      <p:pic>
        <p:nvPicPr>
          <p:cNvPr id="4" name="Icon It pushes" descr="preencoded.png">    </p:cNvPr>
          <p:cNvPicPr>
            <a:picLocks noChangeAspect="1"/>
          </p:cNvPicPr>
          <p:nvPr/>
        </p:nvPicPr>
        <p:blipFill>
          <a:blip r:embed="rId1"/>
          <a:stretch>
            <a:fillRect/>
          </a:stretch>
        </p:blipFill>
        <p:spPr>
          <a:xfrm>
            <a:off x="822960" y="1691640"/>
            <a:ext cx="457200" cy="457200"/>
          </a:xfrm>
          <a:prstGeom prst="rect">
            <a:avLst/>
          </a:prstGeom>
        </p:spPr>
      </p:pic>
      <p:sp>
        <p:nvSpPr>
          <p:cNvPr id="5" name="Text 2"/>
          <p:cNvSpPr txBox="1"/>
          <p:nvPr/>
        </p:nvSpPr>
        <p:spPr>
          <a:xfrm>
            <a:off x="822960" y="2331720"/>
            <a:ext cx="1950720"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It pushes</a:t>
            </a:r>
            <a:endParaRPr lang="en-US" sz="2000" dirty="0"/>
          </a:p>
        </p:txBody>
      </p:sp>
      <p:sp>
        <p:nvSpPr>
          <p:cNvPr id="6" name="Text 3"/>
          <p:cNvSpPr txBox="1"/>
          <p:nvPr/>
        </p:nvSpPr>
        <p:spPr>
          <a:xfrm>
            <a:off x="822960" y="2834640"/>
            <a:ext cx="1950720" cy="155448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Wind pushes a pole, chimney or cable backwards. Engineers need that force to make it strong enough.</a:t>
            </a:r>
            <a:endParaRPr lang="en-US" sz="1500" dirty="0"/>
          </a:p>
        </p:txBody>
      </p:sp>
      <p:sp>
        <p:nvSpPr>
          <p:cNvPr id="7" name="Card It shakes"/>
          <p:cNvSpPr/>
          <p:nvPr/>
        </p:nvSpPr>
        <p:spPr>
          <a:xfrm>
            <a:off x="3322320" y="1417320"/>
            <a:ext cx="2499360" cy="3108960"/>
          </a:xfrm>
          <a:prstGeom prst="roundRect">
            <a:avLst>
              <a:gd name="adj" fmla="val 4390"/>
            </a:avLst>
          </a:prstGeom>
          <a:solidFill>
            <a:schemeClr val="bg2"/>
          </a:solidFill>
          <a:ln w="12700">
            <a:solidFill>
              <a:srgbClr val="E4E1D8"/>
            </a:solidFill>
            <a:prstDash val="solid"/>
          </a:ln>
        </p:spPr>
      </p:sp>
      <p:pic>
        <p:nvPicPr>
          <p:cNvPr id="8" name="Icon It shakes" descr="preencoded.png">    </p:cNvPr>
          <p:cNvPicPr>
            <a:picLocks noChangeAspect="1"/>
          </p:cNvPicPr>
          <p:nvPr/>
        </p:nvPicPr>
        <p:blipFill>
          <a:blip r:embed="rId2"/>
          <a:stretch>
            <a:fillRect/>
          </a:stretch>
        </p:blipFill>
        <p:spPr>
          <a:xfrm>
            <a:off x="3596640" y="1691640"/>
            <a:ext cx="457200" cy="457200"/>
          </a:xfrm>
          <a:prstGeom prst="rect">
            <a:avLst/>
          </a:prstGeom>
        </p:spPr>
      </p:pic>
      <p:sp>
        <p:nvSpPr>
          <p:cNvPr id="9" name="Text 5"/>
          <p:cNvSpPr txBox="1"/>
          <p:nvPr/>
        </p:nvSpPr>
        <p:spPr>
          <a:xfrm>
            <a:off x="3596640" y="2331720"/>
            <a:ext cx="1950720"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It shakes</a:t>
            </a:r>
            <a:endParaRPr lang="en-US" sz="2000" dirty="0"/>
          </a:p>
        </p:txBody>
      </p:sp>
      <p:sp>
        <p:nvSpPr>
          <p:cNvPr id="10" name="Text 6"/>
          <p:cNvSpPr txBox="1"/>
          <p:nvPr/>
        </p:nvSpPr>
        <p:spPr>
          <a:xfrm>
            <a:off x="3596640" y="2834640"/>
            <a:ext cx="1950720" cy="155448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Swirls of air break off on alternate sides and tug the object sideways, back and forth, at a steady rhythm.</a:t>
            </a:r>
            <a:endParaRPr lang="en-US" sz="1500" dirty="0"/>
          </a:p>
        </p:txBody>
      </p:sp>
      <p:sp>
        <p:nvSpPr>
          <p:cNvPr id="11" name="Card It can resonate"/>
          <p:cNvSpPr/>
          <p:nvPr/>
        </p:nvSpPr>
        <p:spPr>
          <a:xfrm>
            <a:off x="6096000" y="1417320"/>
            <a:ext cx="2499360" cy="3108960"/>
          </a:xfrm>
          <a:prstGeom prst="roundRect">
            <a:avLst>
              <a:gd name="adj" fmla="val 4390"/>
            </a:avLst>
          </a:prstGeom>
          <a:solidFill>
            <a:schemeClr val="bg2"/>
          </a:solidFill>
          <a:ln w="12700">
            <a:solidFill>
              <a:srgbClr val="E4E1D8"/>
            </a:solidFill>
            <a:prstDash val="solid"/>
          </a:ln>
        </p:spPr>
      </p:sp>
      <p:pic>
        <p:nvPicPr>
          <p:cNvPr id="12" name="Icon It can resonate" descr="preencoded.png">    </p:cNvPr>
          <p:cNvPicPr>
            <a:picLocks noChangeAspect="1"/>
          </p:cNvPicPr>
          <p:nvPr/>
        </p:nvPicPr>
        <p:blipFill>
          <a:blip r:embed="rId3"/>
          <a:stretch>
            <a:fillRect/>
          </a:stretch>
        </p:blipFill>
        <p:spPr>
          <a:xfrm>
            <a:off x="6370320" y="1691640"/>
            <a:ext cx="457200" cy="457200"/>
          </a:xfrm>
          <a:prstGeom prst="rect">
            <a:avLst/>
          </a:prstGeom>
        </p:spPr>
      </p:pic>
      <p:sp>
        <p:nvSpPr>
          <p:cNvPr id="13" name="Text 8"/>
          <p:cNvSpPr txBox="1"/>
          <p:nvPr/>
        </p:nvSpPr>
        <p:spPr>
          <a:xfrm>
            <a:off x="6370320" y="2331720"/>
            <a:ext cx="1950720"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It can resonate</a:t>
            </a:r>
            <a:endParaRPr lang="en-US" sz="2000" dirty="0"/>
          </a:p>
        </p:txBody>
      </p:sp>
      <p:sp>
        <p:nvSpPr>
          <p:cNvPr id="14" name="Text 9"/>
          <p:cNvSpPr txBox="1"/>
          <p:nvPr/>
        </p:nvSpPr>
        <p:spPr>
          <a:xfrm>
            <a:off x="6370320" y="2834640"/>
            <a:ext cx="1950720" cy="155448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If that rhythm matches the structure's own natural swing, small tugs add up to large vibrations.</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tx1"/>
                </a:solidFill>
                <a:latin typeface="+mj-lt" pitchFamily="34" charset="0"/>
                <a:ea typeface="+mj-lt" pitchFamily="34" charset="-122"/>
                <a:cs typeface="+mj-lt" pitchFamily="34" charset="-120"/>
              </a:rPr>
              <a:t>The experiment, inside a computer</a:t>
            </a:r>
            <a:endParaRPr lang="en-US" sz="3000" dirty="0"/>
          </a:p>
        </p:txBody>
      </p:sp>
      <p:sp>
        <p:nvSpPr>
          <p:cNvPr id="3" name="Setup bullets"/>
          <p:cNvSpPr txBox="1"/>
          <p:nvPr/>
        </p:nvSpPr>
        <p:spPr>
          <a:xfrm>
            <a:off x="548640" y="1417320"/>
            <a:ext cx="4754880" cy="310896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A round pole 10 cm wide, in a steady breeze of 10 m/s (36 km/h)</a:t>
            </a:r>
            <a:endParaRPr lang="en-US" sz="1800" dirty="0"/>
          </a:p>
          <a:p>
            <a:pPr marL="228600" indent="-228600">
              <a:spcAft>
                <a:spcPts val="1200"/>
              </a:spcAft>
              <a:buSzPct val="100000"/>
              <a:buChar char="•"/>
            </a:pPr>
            <a:r>
              <a:rPr lang="en-US" sz="1800" dirty="0">
                <a:solidFill>
                  <a:schemeClr val="tx1"/>
                </a:solidFill>
              </a:rPr>
              <a:t>The air around it is cut into up to 38,000 small cells</a:t>
            </a:r>
            <a:endParaRPr lang="en-US" sz="1800" dirty="0"/>
          </a:p>
          <a:p>
            <a:pPr marL="228600" indent="-228600">
              <a:spcAft>
                <a:spcPts val="1200"/>
              </a:spcAft>
              <a:buSzPct val="100000"/>
              <a:buChar char="•"/>
            </a:pPr>
            <a:r>
              <a:rPr lang="en-US" sz="1800" dirty="0">
                <a:solidFill>
                  <a:schemeClr val="tx1"/>
                </a:solidFill>
              </a:rPr>
              <a:t>In every cell, the laws of air motion are solved, 20,000 times for every second of flow</a:t>
            </a:r>
            <a:endParaRPr lang="en-US" sz="1800" dirty="0"/>
          </a:p>
          <a:p>
            <a:pPr marL="228600" indent="-228600">
              <a:spcAft>
                <a:spcPts val="1200"/>
              </a:spcAft>
              <a:buSzPct val="100000"/>
              <a:buChar char="•"/>
            </a:pPr>
            <a:r>
              <a:rPr lang="en-US" sz="1800" dirty="0">
                <a:solidFill>
                  <a:schemeClr val="tx1"/>
                </a:solidFill>
              </a:rPr>
              <a:t>Free, open-source software: OpenFOAM, on a laptop</a:t>
            </a:r>
            <a:endParaRPr lang="en-US" sz="1800" dirty="0"/>
          </a:p>
        </p:txBody>
      </p:sp>
      <p:pic>
        <p:nvPicPr>
          <p:cNvPr id="4" name="Mesh sketch" descr="Sketch of the computational grid: thin rings of cells hug the cylinder and grow larger farther away">    </p:cNvPr>
          <p:cNvPicPr>
            <a:picLocks noChangeAspect="1"/>
          </p:cNvPicPr>
          <p:nvPr/>
        </p:nvPicPr>
        <p:blipFill>
          <a:blip r:embed="rId1"/>
          <a:stretch>
            <a:fillRect/>
          </a:stretch>
        </p:blipFill>
        <p:spPr>
          <a:xfrm>
            <a:off x="5623560" y="1325880"/>
            <a:ext cx="2971800" cy="2971800"/>
          </a:xfrm>
          <a:prstGeom prst="rect">
            <a:avLst/>
          </a:prstGeom>
        </p:spPr>
      </p:pic>
      <p:sp>
        <p:nvSpPr>
          <p:cNvPr id="5" name="Text 2"/>
          <p:cNvSpPr txBox="1"/>
          <p:nvPr/>
        </p:nvSpPr>
        <p:spPr>
          <a:xfrm>
            <a:off x="5623560" y="4389120"/>
            <a:ext cx="2971800" cy="274320"/>
          </a:xfrm>
          <a:prstGeom prst="rect">
            <a:avLst/>
          </a:prstGeom>
          <a:noFill/>
          <a:ln/>
        </p:spPr>
        <p:txBody>
          <a:bodyPr wrap="square" lIns="0" tIns="0" rIns="0" bIns="0" rtlCol="0" anchor="t"/>
          <a:lstStyle/>
          <a:p>
            <a:pPr algn="ctr" indent="0" marL="0">
              <a:buNone/>
            </a:pPr>
            <a:r>
              <a:rPr lang="en-US" sz="1100" i="1" dirty="0">
                <a:solidFill>
                  <a:schemeClr val="accent5"/>
                </a:solidFill>
              </a:rPr>
              <a:t>Simplified sketch of the grid</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bg1"/>
                </a:solidFill>
                <a:latin typeface="+mj-lt" pitchFamily="34" charset="0"/>
                <a:ea typeface="+mj-lt" pitchFamily="34" charset="-122"/>
                <a:cs typeface="+mj-lt" pitchFamily="34" charset="-120"/>
              </a:rPr>
              <a:t>What the computer showed: a trail of swirls</a:t>
            </a:r>
            <a:endParaRPr lang="en-US" sz="3000" dirty="0"/>
          </a:p>
        </p:txBody>
      </p:sp>
      <p:pic>
        <p:nvPicPr>
          <p:cNvPr id="3" name="Vortex strip" descr="Swirls of air peeling off the cylinder, alternating red (counter-clockwise) and blue (clockwise), drifting downstream">    </p:cNvPr>
          <p:cNvPicPr>
            <a:picLocks noChangeAspect="1"/>
          </p:cNvPicPr>
          <p:nvPr/>
        </p:nvPicPr>
        <p:blipFill>
          <a:blip r:embed="rId1"/>
          <a:stretch>
            <a:fillRect/>
          </a:stretch>
        </p:blipFill>
        <p:spPr>
          <a:xfrm>
            <a:off x="548640" y="1325880"/>
            <a:ext cx="8046720" cy="2306726"/>
          </a:xfrm>
          <a:prstGeom prst="rect">
            <a:avLst/>
          </a:prstGeom>
        </p:spPr>
      </p:pic>
      <p:sp>
        <p:nvSpPr>
          <p:cNvPr id="4" name="Caption"/>
          <p:cNvSpPr txBox="1"/>
          <p:nvPr/>
        </p:nvSpPr>
        <p:spPr>
          <a:xfrm>
            <a:off x="548640" y="3794760"/>
            <a:ext cx="8046720" cy="822960"/>
          </a:xfrm>
          <a:prstGeom prst="rect">
            <a:avLst/>
          </a:prstGeom>
          <a:noFill/>
          <a:ln/>
        </p:spPr>
        <p:txBody>
          <a:bodyPr wrap="square" lIns="0" tIns="0" rIns="0" bIns="0" rtlCol="0" anchor="t"/>
          <a:lstStyle/>
          <a:p>
            <a:pPr indent="0" marL="0">
              <a:spcAft>
                <a:spcPts val="400"/>
              </a:spcAft>
              <a:buNone/>
            </a:pPr>
            <a:r>
              <a:rPr lang="en-US" sz="1800" dirty="0">
                <a:solidFill>
                  <a:schemeClr val="accent6"/>
                </a:solidFill>
              </a:rPr>
              <a:t>Red swirls spin one way, blue the other.</a:t>
            </a:r>
            <a:endParaRPr lang="en-US" sz="1800" dirty="0"/>
          </a:p>
          <a:p>
            <a:pPr indent="0" marL="0">
              <a:spcAft>
                <a:spcPts val="400"/>
              </a:spcAft>
              <a:buNone/>
            </a:pPr>
            <a:r>
              <a:rPr lang="en-US" sz="1800" dirty="0">
                <a:solidFill>
                  <a:schemeClr val="accent6"/>
                </a:solidFill>
              </a:rPr>
              <a:t>They break off top, then bottom, about 25 times a second.</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tx1"/>
                </a:solidFill>
                <a:latin typeface="+mj-lt" pitchFamily="34" charset="0"/>
                <a:ea typeface="+mj-lt" pitchFamily="34" charset="-122"/>
                <a:cs typeface="+mj-lt" pitchFamily="34" charset="-120"/>
              </a:rPr>
              <a:t>What the wind does to every metre of pole</a:t>
            </a:r>
            <a:endParaRPr lang="en-US" sz="3000" dirty="0"/>
          </a:p>
        </p:txBody>
      </p:sp>
      <p:sp>
        <p:nvSpPr>
          <p:cNvPr id="3" name="Card Push backwards"/>
          <p:cNvSpPr/>
          <p:nvPr/>
        </p:nvSpPr>
        <p:spPr>
          <a:xfrm>
            <a:off x="548640" y="1325880"/>
            <a:ext cx="3840480" cy="2880360"/>
          </a:xfrm>
          <a:prstGeom prst="roundRect">
            <a:avLst>
              <a:gd name="adj" fmla="val 3810"/>
            </a:avLst>
          </a:prstGeom>
          <a:solidFill>
            <a:schemeClr val="bg2"/>
          </a:solidFill>
          <a:ln w="12700">
            <a:solidFill>
              <a:srgbClr val="E4E1D8"/>
            </a:solidFill>
            <a:prstDash val="solid"/>
          </a:ln>
        </p:spPr>
      </p:sp>
      <p:pic>
        <p:nvPicPr>
          <p:cNvPr id="4" name="Icon Push backwards" descr="preencoded.png">    </p:cNvPr>
          <p:cNvPicPr>
            <a:picLocks noChangeAspect="1"/>
          </p:cNvPicPr>
          <p:nvPr/>
        </p:nvPicPr>
        <p:blipFill>
          <a:blip r:embed="rId1"/>
          <a:stretch>
            <a:fillRect/>
          </a:stretch>
        </p:blipFill>
        <p:spPr>
          <a:xfrm>
            <a:off x="868680" y="1600200"/>
            <a:ext cx="411480" cy="411480"/>
          </a:xfrm>
          <a:prstGeom prst="rect">
            <a:avLst/>
          </a:prstGeom>
        </p:spPr>
      </p:pic>
      <p:sp>
        <p:nvSpPr>
          <p:cNvPr id="5" name="Text 2"/>
          <p:cNvSpPr txBox="1"/>
          <p:nvPr/>
        </p:nvSpPr>
        <p:spPr>
          <a:xfrm>
            <a:off x="1417320" y="1600200"/>
            <a:ext cx="2651760" cy="411480"/>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Push backwards</a:t>
            </a:r>
            <a:endParaRPr lang="en-US" sz="2000" dirty="0"/>
          </a:p>
        </p:txBody>
      </p:sp>
      <p:sp>
        <p:nvSpPr>
          <p:cNvPr id="6" name="Text 3"/>
          <p:cNvSpPr txBox="1"/>
          <p:nvPr/>
        </p:nvSpPr>
        <p:spPr>
          <a:xfrm>
            <a:off x="868680" y="2148840"/>
            <a:ext cx="3200400" cy="91440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6 N</a:t>
            </a:r>
            <a:endParaRPr lang="en-US" sz="5400" dirty="0"/>
          </a:p>
        </p:txBody>
      </p:sp>
      <p:sp>
        <p:nvSpPr>
          <p:cNvPr id="7" name="Text 4"/>
          <p:cNvSpPr txBox="1"/>
          <p:nvPr/>
        </p:nvSpPr>
        <p:spPr>
          <a:xfrm>
            <a:off x="868680" y="3200400"/>
            <a:ext cx="3200400" cy="868680"/>
          </a:xfrm>
          <a:prstGeom prst="rect">
            <a:avLst/>
          </a:prstGeom>
          <a:noFill/>
          <a:ln/>
        </p:spPr>
        <p:txBody>
          <a:bodyPr wrap="square" lIns="0" tIns="0" rIns="0" bIns="0" rtlCol="0" anchor="t"/>
          <a:lstStyle/>
          <a:p>
            <a:pPr indent="0" marL="0">
              <a:buNone/>
            </a:pPr>
            <a:r>
              <a:rPr lang="en-US" sz="1500" dirty="0">
                <a:solidFill>
                  <a:schemeClr val="tx2"/>
                </a:solidFill>
              </a:rPr>
              <a:t>steady, about the weight of a 600 g bag of sugar hanging from each metre</a:t>
            </a:r>
            <a:endParaRPr lang="en-US" sz="1500" dirty="0"/>
          </a:p>
        </p:txBody>
      </p:sp>
      <p:sp>
        <p:nvSpPr>
          <p:cNvPr id="8" name="Card Tug sideways"/>
          <p:cNvSpPr/>
          <p:nvPr/>
        </p:nvSpPr>
        <p:spPr>
          <a:xfrm>
            <a:off x="4754880" y="1325880"/>
            <a:ext cx="3840480" cy="2880360"/>
          </a:xfrm>
          <a:prstGeom prst="roundRect">
            <a:avLst>
              <a:gd name="adj" fmla="val 3810"/>
            </a:avLst>
          </a:prstGeom>
          <a:solidFill>
            <a:schemeClr val="bg2"/>
          </a:solidFill>
          <a:ln w="12700">
            <a:solidFill>
              <a:srgbClr val="E4E1D8"/>
            </a:solidFill>
            <a:prstDash val="solid"/>
          </a:ln>
        </p:spPr>
      </p:sp>
      <p:pic>
        <p:nvPicPr>
          <p:cNvPr id="9" name="Icon Tug sideways" descr="preencoded.png">    </p:cNvPr>
          <p:cNvPicPr>
            <a:picLocks noChangeAspect="1"/>
          </p:cNvPicPr>
          <p:nvPr/>
        </p:nvPicPr>
        <p:blipFill>
          <a:blip r:embed="rId2"/>
          <a:stretch>
            <a:fillRect/>
          </a:stretch>
        </p:blipFill>
        <p:spPr>
          <a:xfrm>
            <a:off x="5074920" y="1600200"/>
            <a:ext cx="411480" cy="411480"/>
          </a:xfrm>
          <a:prstGeom prst="rect">
            <a:avLst/>
          </a:prstGeom>
        </p:spPr>
      </p:pic>
      <p:sp>
        <p:nvSpPr>
          <p:cNvPr id="10" name="Text 6"/>
          <p:cNvSpPr txBox="1"/>
          <p:nvPr/>
        </p:nvSpPr>
        <p:spPr>
          <a:xfrm>
            <a:off x="5623560" y="1600200"/>
            <a:ext cx="2651760" cy="411480"/>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Tug sideways</a:t>
            </a:r>
            <a:endParaRPr lang="en-US" sz="2000" dirty="0"/>
          </a:p>
        </p:txBody>
      </p:sp>
      <p:sp>
        <p:nvSpPr>
          <p:cNvPr id="11" name="Text 7"/>
          <p:cNvSpPr txBox="1"/>
          <p:nvPr/>
        </p:nvSpPr>
        <p:spPr>
          <a:xfrm>
            <a:off x="5074920" y="2148840"/>
            <a:ext cx="3200400" cy="914400"/>
          </a:xfrm>
          <a:prstGeom prst="rect">
            <a:avLst/>
          </a:prstGeom>
          <a:noFill/>
          <a:ln/>
        </p:spPr>
        <p:txBody>
          <a:bodyPr wrap="square" lIns="0" tIns="0" rIns="0" bIns="0" rtlCol="0" anchor="ctr"/>
          <a:lstStyle/>
          <a:p>
            <a:pPr indent="0" marL="0">
              <a:buNone/>
            </a:pPr>
            <a:r>
              <a:rPr lang="en-US" sz="5400" b="1" dirty="0">
                <a:solidFill>
                  <a:schemeClr val="accent2"/>
                </a:solidFill>
                <a:latin typeface="+mj-lt" pitchFamily="34" charset="0"/>
                <a:ea typeface="+mj-lt" pitchFamily="34" charset="-122"/>
                <a:cs typeface="+mj-lt" pitchFamily="34" charset="-120"/>
              </a:rPr>
              <a:t>± 6.6 N</a:t>
            </a:r>
            <a:endParaRPr lang="en-US" sz="5400" dirty="0"/>
          </a:p>
        </p:txBody>
      </p:sp>
      <p:sp>
        <p:nvSpPr>
          <p:cNvPr id="12" name="Text 8"/>
          <p:cNvSpPr txBox="1"/>
          <p:nvPr/>
        </p:nvSpPr>
        <p:spPr>
          <a:xfrm>
            <a:off x="5074920" y="3200400"/>
            <a:ext cx="3200400" cy="868680"/>
          </a:xfrm>
          <a:prstGeom prst="rect">
            <a:avLst/>
          </a:prstGeom>
          <a:noFill/>
          <a:ln/>
        </p:spPr>
        <p:txBody>
          <a:bodyPr wrap="square" lIns="0" tIns="0" rIns="0" bIns="0" rtlCol="0" anchor="t"/>
          <a:lstStyle/>
          <a:p>
            <a:pPr indent="0" marL="0">
              <a:buNone/>
            </a:pPr>
            <a:r>
              <a:rPr lang="en-US" sz="1500" dirty="0">
                <a:solidFill>
                  <a:schemeClr val="tx2"/>
                </a:solidFill>
              </a:rPr>
              <a:t>changing direction 25 times a second, as each swirl breaks off</a:t>
            </a:r>
            <a:endParaRPr lang="en-US" sz="1500" dirty="0"/>
          </a:p>
        </p:txBody>
      </p:sp>
      <p:sp>
        <p:nvSpPr>
          <p:cNvPr id="13" name="Footnote"/>
          <p:cNvSpPr txBox="1"/>
          <p:nvPr/>
        </p:nvSpPr>
        <p:spPr>
          <a:xfrm>
            <a:off x="548640" y="4389120"/>
            <a:ext cx="7315200" cy="274320"/>
          </a:xfrm>
          <a:prstGeom prst="rect">
            <a:avLst/>
          </a:prstGeom>
          <a:noFill/>
          <a:ln/>
        </p:spPr>
        <p:txBody>
          <a:bodyPr wrap="square" lIns="0" tIns="0" rIns="0" bIns="0" rtlCol="0" anchor="t"/>
          <a:lstStyle/>
          <a:p>
            <a:pPr indent="0" marL="0">
              <a:buNone/>
            </a:pPr>
            <a:r>
              <a:rPr lang="en-US" sz="1200" i="1" dirty="0">
                <a:solidFill>
                  <a:schemeClr val="accent5"/>
                </a:solidFill>
              </a:rPr>
              <a:t>For a 10 cm pole in a 10 m/s breeze. N = newton, the unit of force.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tx1"/>
                </a:solidFill>
                <a:latin typeface="+mj-lt" pitchFamily="34" charset="0"/>
                <a:ea typeface="+mj-lt" pitchFamily="34" charset="-122"/>
                <a:cs typeface="+mj-lt" pitchFamily="34" charset="-120"/>
              </a:rPr>
              <a:t>Can we trust the computer? Ask it three times</a:t>
            </a:r>
            <a:endParaRPr lang="en-US" sz="3000" dirty="0"/>
          </a:p>
        </p:txBody>
      </p:sp>
      <p:sp>
        <p:nvSpPr>
          <p:cNvPr id="3" name="Intro"/>
          <p:cNvSpPr txBox="1"/>
          <p:nvPr/>
        </p:nvSpPr>
        <p:spPr>
          <a:xfrm>
            <a:off x="548640" y="1097280"/>
            <a:ext cx="8046720" cy="594360"/>
          </a:xfrm>
          <a:prstGeom prst="rect">
            <a:avLst/>
          </a:prstGeom>
          <a:noFill/>
          <a:ln/>
        </p:spPr>
        <p:txBody>
          <a:bodyPr wrap="square" lIns="0" tIns="0" rIns="0" bIns="0" rtlCol="0" anchor="t"/>
          <a:lstStyle/>
          <a:p>
            <a:pPr indent="0" marL="0">
              <a:buNone/>
            </a:pPr>
            <a:r>
              <a:rPr lang="en-US" sz="1600" dirty="0">
                <a:solidFill>
                  <a:schemeClr val="tx2"/>
                </a:solidFill>
              </a:rPr>
              <a:t>The same flow, solved on a coarse, a medium and a fine grid. If the answers stop changing as the cells shrink, the cells are small enough.</a:t>
            </a:r>
            <a:endParaRPr lang="en-US" sz="1600" dirty="0"/>
          </a:p>
        </p:txBody>
      </p:sp>
      <p:graphicFrame>
        <p:nvGraphicFramePr>
          <p:cNvPr id="7" name="Grid table"/>
          <p:cNvGraphicFramePr>
            <a:graphicFrameLocks noGrp="1"/>
          </p:cNvGraphicFramePr>
          <p:nvPr>
            <p:extLst>
              <p:ext uri="{D42A27DB-BD31-4B8C-83A1-F6EECF244321}">
                <p14:modId xmlns:p14="http://schemas.microsoft.com/office/powerpoint/2010/main" val="1579011935"/>
              </p:ext>
            </p:extLst>
          </p:nvPr>
        </p:nvGraphicFramePr>
        <p:xfrm>
          <a:off x="548640" y="1874520"/>
          <a:ext cx="8046720" cy="914400"/>
        </p:xfrm>
        <a:graphic>
          <a:graphicData uri="http://schemas.openxmlformats.org/drawingml/2006/table">
            <a:tbl>
              <a:tblPr/>
              <a:tblGrid>
                <a:gridCol w="2194560"/>
                <a:gridCol w="1920240"/>
                <a:gridCol w="1965960"/>
                <a:gridCol w="1965960"/>
              </a:tblGrid>
              <a:tr h="411480">
                <a:tc>
                  <a:txBody>
                    <a:bodyPr/>
                    <a:lstStyle/>
                    <a:p>
                      <a:pPr algn="l" indent="0" marL="0">
                        <a:buNone/>
                      </a:pPr>
                      <a:r>
                        <a:rPr lang="en-US" sz="1600" b="1" dirty="0">
                          <a:solidFill>
                            <a:schemeClr val="bg1"/>
                          </a:solidFill>
                        </a:rPr>
                        <a:t>Grid</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rPr>
                        <a:t>Cells</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rPr>
                        <a:t>Swirls per second</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rPr>
                        <a:t>Push (N per m)</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chemeClr val="tx1"/>
                    </a:solidFill>
                  </a:tcPr>
                </a:tc>
              </a:tr>
              <a:tr h="411480">
                <a:tc>
                  <a:txBody>
                    <a:bodyPr/>
                    <a:lstStyle/>
                    <a:p>
                      <a:pPr algn="l" indent="0" marL="0">
                        <a:buNone/>
                      </a:pPr>
                      <a:r>
                        <a:rPr lang="en-US" sz="1600" dirty="0">
                          <a:solidFill>
                            <a:schemeClr val="tx1"/>
                          </a:solidFill>
                        </a:rPr>
                        <a:t>Coarse</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c>
                  <a:txBody>
                    <a:bodyPr/>
                    <a:lstStyle/>
                    <a:p>
                      <a:pPr algn="r" indent="0" marL="0">
                        <a:buNone/>
                      </a:pPr>
                      <a:r>
                        <a:rPr lang="en-US" sz="1600" dirty="0">
                          <a:solidFill>
                            <a:schemeClr val="tx1"/>
                          </a:solidFill>
                        </a:rPr>
                        <a:t>7,578</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c>
                  <a:txBody>
                    <a:bodyPr/>
                    <a:lstStyle/>
                    <a:p>
                      <a:pPr algn="r" indent="0" marL="0">
                        <a:buNone/>
                      </a:pPr>
                      <a:r>
                        <a:rPr lang="en-US" sz="1600" dirty="0">
                          <a:solidFill>
                            <a:schemeClr val="tx1"/>
                          </a:solidFill>
                        </a:rPr>
                        <a:t>23.9</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c>
                  <a:txBody>
                    <a:bodyPr/>
                    <a:lstStyle/>
                    <a:p>
                      <a:pPr algn="r" indent="0" marL="0">
                        <a:buNone/>
                      </a:pPr>
                      <a:r>
                        <a:rPr lang="en-US" sz="1600" dirty="0">
                          <a:solidFill>
                            <a:schemeClr val="tx1"/>
                          </a:solidFill>
                        </a:rPr>
                        <a:t>6.26</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r>
              <a:tr h="411480">
                <a:tc>
                  <a:txBody>
                    <a:bodyPr/>
                    <a:lstStyle/>
                    <a:p>
                      <a:pPr algn="l" indent="0" marL="0">
                        <a:buNone/>
                      </a:pPr>
                      <a:r>
                        <a:rPr lang="en-US" sz="1600" dirty="0">
                          <a:solidFill>
                            <a:schemeClr val="tx1"/>
                          </a:solidFill>
                        </a:rPr>
                        <a:t>Medium</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EFECE3"/>
                    </a:solidFill>
                  </a:tcPr>
                </a:tc>
                <a:tc>
                  <a:txBody>
                    <a:bodyPr/>
                    <a:lstStyle/>
                    <a:p>
                      <a:pPr algn="r" indent="0" marL="0">
                        <a:buNone/>
                      </a:pPr>
                      <a:r>
                        <a:rPr lang="en-US" sz="1600" dirty="0">
                          <a:solidFill>
                            <a:schemeClr val="tx1"/>
                          </a:solidFill>
                        </a:rPr>
                        <a:t>17,092</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EFECE3"/>
                    </a:solidFill>
                  </a:tcPr>
                </a:tc>
                <a:tc>
                  <a:txBody>
                    <a:bodyPr/>
                    <a:lstStyle/>
                    <a:p>
                      <a:pPr algn="r" indent="0" marL="0">
                        <a:buNone/>
                      </a:pPr>
                      <a:r>
                        <a:rPr lang="en-US" sz="1600" dirty="0">
                          <a:solidFill>
                            <a:schemeClr val="tx1"/>
                          </a:solidFill>
                        </a:rPr>
                        <a:t>24.7</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EFECE3"/>
                    </a:solidFill>
                  </a:tcPr>
                </a:tc>
                <a:tc>
                  <a:txBody>
                    <a:bodyPr/>
                    <a:lstStyle/>
                    <a:p>
                      <a:pPr algn="r" indent="0" marL="0">
                        <a:buNone/>
                      </a:pPr>
                      <a:r>
                        <a:rPr lang="en-US" sz="1600" dirty="0">
                          <a:solidFill>
                            <a:schemeClr val="tx1"/>
                          </a:solidFill>
                        </a:rPr>
                        <a:t>6.15</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EFECE3"/>
                    </a:solidFill>
                  </a:tcPr>
                </a:tc>
              </a:tr>
              <a:tr h="411480">
                <a:tc>
                  <a:txBody>
                    <a:bodyPr/>
                    <a:lstStyle/>
                    <a:p>
                      <a:pPr algn="l" indent="0" marL="0">
                        <a:buNone/>
                      </a:pPr>
                      <a:r>
                        <a:rPr lang="en-US" sz="1600" dirty="0">
                          <a:solidFill>
                            <a:schemeClr val="tx1"/>
                          </a:solidFill>
                        </a:rPr>
                        <a:t>Fine</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c>
                  <a:txBody>
                    <a:bodyPr/>
                    <a:lstStyle/>
                    <a:p>
                      <a:pPr algn="r" indent="0" marL="0">
                        <a:buNone/>
                      </a:pPr>
                      <a:r>
                        <a:rPr lang="en-US" sz="1600" dirty="0">
                          <a:solidFill>
                            <a:schemeClr val="tx1"/>
                          </a:solidFill>
                        </a:rPr>
                        <a:t>38,418</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c>
                  <a:txBody>
                    <a:bodyPr/>
                    <a:lstStyle/>
                    <a:p>
                      <a:pPr algn="r" indent="0" marL="0">
                        <a:buNone/>
                      </a:pPr>
                      <a:r>
                        <a:rPr lang="en-US" sz="1600" dirty="0">
                          <a:solidFill>
                            <a:schemeClr val="tx1"/>
                          </a:solidFill>
                        </a:rPr>
                        <a:t>25.1</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c>
                  <a:txBody>
                    <a:bodyPr/>
                    <a:lstStyle/>
                    <a:p>
                      <a:pPr algn="r" indent="0" marL="0">
                        <a:buNone/>
                      </a:pPr>
                      <a:r>
                        <a:rPr lang="en-US" sz="1600" dirty="0">
                          <a:solidFill>
                            <a:schemeClr val="tx1"/>
                          </a:solidFill>
                        </a:rPr>
                        <a:t>6.12</a:t>
                      </a:r>
                      <a:endParaRPr lang="en-US" sz="1600" dirty="0"/>
                    </a:p>
                  </a:txBody>
                  <a:tcPr marL="137160" marR="137160" marT="0" marB="0" anchor="ctr">
                    <a:lnL w="9525" cap="flat" cmpd="sng" algn="ctr">
                      <a:solidFill>
                        <a:srgbClr val="E4E1D8"/>
                      </a:solidFill>
                      <a:prstDash val="solid"/>
                      <a:round/>
                      <a:headEnd type="none" w="med" len="med"/>
                      <a:tailEnd type="none" w="med" len="med"/>
                    </a:lnL>
                    <a:lnR w="9525" cap="flat" cmpd="sng" algn="ctr">
                      <a:solidFill>
                        <a:srgbClr val="E4E1D8"/>
                      </a:solidFill>
                      <a:prstDash val="solid"/>
                      <a:round/>
                      <a:headEnd type="none" w="med" len="med"/>
                      <a:tailEnd type="none" w="med" len="med"/>
                    </a:lnR>
                    <a:lnT w="9525" cap="flat" cmpd="sng" algn="ctr">
                      <a:solidFill>
                        <a:srgbClr val="E4E1D8"/>
                      </a:solidFill>
                      <a:prstDash val="solid"/>
                      <a:round/>
                      <a:headEnd type="none" w="med" len="med"/>
                      <a:tailEnd type="none" w="med" len="med"/>
                    </a:lnT>
                    <a:lnB w="9525" cap="flat" cmpd="sng" algn="ctr">
                      <a:solidFill>
                        <a:srgbClr val="E4E1D8"/>
                      </a:solidFill>
                      <a:prstDash val="solid"/>
                      <a:round/>
                      <a:headEnd type="none" w="med" len="med"/>
                      <a:tailEnd type="none" w="med" len="med"/>
                    </a:lnB>
                    <a:solidFill>
                      <a:srgbClr val="FDFCF9"/>
                    </a:solidFill>
                  </a:tcPr>
                </a:tc>
              </a:tr>
            </a:tbl>
          </a:graphicData>
        </a:graphic>
      </p:graphicFrame>
      <p:sp>
        <p:nvSpPr>
          <p:cNvPr id="5" name="Conclusion"/>
          <p:cNvSpPr txBox="1"/>
          <p:nvPr/>
        </p:nvSpPr>
        <p:spPr>
          <a:xfrm>
            <a:off x="548640" y="3840480"/>
            <a:ext cx="8046720" cy="594360"/>
          </a:xfrm>
          <a:prstGeom prst="rect">
            <a:avLst/>
          </a:prstGeom>
          <a:noFill/>
          <a:ln/>
        </p:spPr>
        <p:txBody>
          <a:bodyPr wrap="square" lIns="0" tIns="0" rIns="0" bIns="0" rtlCol="0" anchor="t"/>
          <a:lstStyle/>
          <a:p>
            <a:pPr indent="0" marL="0">
              <a:buNone/>
            </a:pPr>
            <a:r>
              <a:rPr lang="en-US" sz="1600" b="1" dirty="0">
                <a:solidFill>
                  <a:schemeClr val="tx1"/>
                </a:solidFill>
              </a:rPr>
              <a:t>Medium to fine: every answer moved by less than 2 %. </a:t>
            </a:r>
            <a:pPr indent="0" marL="0">
              <a:buNone/>
            </a:pPr>
            <a:r>
              <a:rPr lang="en-US" sz="1600" dirty="0">
                <a:solidFill>
                  <a:schemeClr val="tx1"/>
                </a:solidFill>
              </a:rPr>
              <a:t>The same test with three time-step sizes agreed too.</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640080"/>
            <a:ext cx="8046720" cy="274320"/>
          </a:xfrm>
          <a:prstGeom prst="rect">
            <a:avLst/>
          </a:prstGeom>
          <a:noFill/>
          <a:ln/>
        </p:spPr>
        <p:txBody>
          <a:bodyPr wrap="square" lIns="0" tIns="0" rIns="0" bIns="0" rtlCol="0" anchor="t"/>
          <a:lstStyle/>
          <a:p>
            <a:pPr indent="0" marL="0">
              <a:buNone/>
            </a:pPr>
            <a:r>
              <a:rPr lang="en-US" sz="1300" spc="200" kern="0" dirty="0">
                <a:solidFill>
                  <a:srgbClr val="FBF3EF"/>
                </a:solidFill>
              </a:rPr>
              <a:t>THE VERDICT</a:t>
            </a:r>
            <a:endParaRPr lang="en-US" sz="1300" dirty="0"/>
          </a:p>
        </p:txBody>
      </p:sp>
      <p:sp>
        <p:nvSpPr>
          <p:cNvPr id="3" name="Verdict title"/>
          <p:cNvSpPr txBox="1"/>
          <p:nvPr/>
        </p:nvSpPr>
        <p:spPr>
          <a:xfrm>
            <a:off x="548640" y="1005840"/>
            <a:ext cx="7680960" cy="1371600"/>
          </a:xfrm>
          <a:prstGeom prst="rect">
            <a:avLst/>
          </a:prstGeom>
          <a:noFill/>
          <a:ln/>
        </p:spPr>
        <p:txBody>
          <a:bodyPr wrap="square" lIns="0" tIns="0" rIns="0" bIns="0" rtlCol="0" anchor="t"/>
          <a:lstStyle/>
          <a:p>
            <a:pPr indent="0" marL="0">
              <a:buNone/>
            </a:pPr>
            <a:r>
              <a:rPr lang="en-US" sz="3600" b="1" dirty="0">
                <a:solidFill>
                  <a:srgbClr val="FBF3EF"/>
                </a:solidFill>
                <a:latin typeface="+mj-lt" pitchFamily="34" charset="0"/>
                <a:ea typeface="+mj-lt" pitchFamily="34" charset="-122"/>
                <a:cs typeface="+mj-lt" pitchFamily="34" charset="-120"/>
              </a:rPr>
              <a:t>The computer's own error is small, and we know how small</a:t>
            </a:r>
            <a:endParaRPr lang="en-US" sz="3600" dirty="0"/>
          </a:p>
        </p:txBody>
      </p:sp>
      <p:sp>
        <p:nvSpPr>
          <p:cNvPr id="4" name="Stat on the push"/>
          <p:cNvSpPr txBox="1"/>
          <p:nvPr/>
        </p:nvSpPr>
        <p:spPr>
          <a:xfrm>
            <a:off x="548640" y="2743200"/>
            <a:ext cx="3017520" cy="822960"/>
          </a:xfrm>
          <a:prstGeom prst="rect">
            <a:avLst/>
          </a:prstGeom>
          <a:noFill/>
          <a:ln/>
        </p:spPr>
        <p:txBody>
          <a:bodyPr wrap="square" lIns="0" tIns="0" rIns="0" bIns="0" rtlCol="0" anchor="ctr"/>
          <a:lstStyle/>
          <a:p>
            <a:pPr indent="0" marL="0">
              <a:buNone/>
            </a:pPr>
            <a:r>
              <a:rPr lang="en-US" sz="4800" b="1" dirty="0">
                <a:solidFill>
                  <a:srgbClr val="FBF3EF"/>
                </a:solidFill>
                <a:latin typeface="+mj-lt" pitchFamily="34" charset="0"/>
                <a:ea typeface="+mj-lt" pitchFamily="34" charset="-122"/>
                <a:cs typeface="+mj-lt" pitchFamily="34" charset="-120"/>
              </a:rPr>
              <a:t>± 0.4 %</a:t>
            </a:r>
            <a:endParaRPr lang="en-US" sz="4800" dirty="0"/>
          </a:p>
        </p:txBody>
      </p:sp>
      <p:sp>
        <p:nvSpPr>
          <p:cNvPr id="5" name="Text 3"/>
          <p:cNvSpPr txBox="1"/>
          <p:nvPr/>
        </p:nvSpPr>
        <p:spPr>
          <a:xfrm>
            <a:off x="548640" y="3611880"/>
            <a:ext cx="3017520" cy="365760"/>
          </a:xfrm>
          <a:prstGeom prst="rect">
            <a:avLst/>
          </a:prstGeom>
          <a:noFill/>
          <a:ln/>
        </p:spPr>
        <p:txBody>
          <a:bodyPr wrap="square" lIns="0" tIns="0" rIns="0" bIns="0" rtlCol="0" anchor="t"/>
          <a:lstStyle/>
          <a:p>
            <a:pPr indent="0" marL="0">
              <a:buNone/>
            </a:pPr>
            <a:r>
              <a:rPr lang="en-US" sz="1600" dirty="0">
                <a:solidFill>
                  <a:srgbClr val="FBF3EF"/>
                </a:solidFill>
              </a:rPr>
              <a:t>on the push</a:t>
            </a:r>
            <a:endParaRPr lang="en-US" sz="1600" dirty="0"/>
          </a:p>
        </p:txBody>
      </p:sp>
      <p:sp>
        <p:nvSpPr>
          <p:cNvPr id="6" name="Stat on the swirl rhythm"/>
          <p:cNvSpPr txBox="1"/>
          <p:nvPr/>
        </p:nvSpPr>
        <p:spPr>
          <a:xfrm>
            <a:off x="3840480" y="2743200"/>
            <a:ext cx="3017520" cy="822960"/>
          </a:xfrm>
          <a:prstGeom prst="rect">
            <a:avLst/>
          </a:prstGeom>
          <a:noFill/>
          <a:ln/>
        </p:spPr>
        <p:txBody>
          <a:bodyPr wrap="square" lIns="0" tIns="0" rIns="0" bIns="0" rtlCol="0" anchor="ctr"/>
          <a:lstStyle/>
          <a:p>
            <a:pPr indent="0" marL="0">
              <a:buNone/>
            </a:pPr>
            <a:r>
              <a:rPr lang="en-US" sz="4800" b="1" dirty="0">
                <a:solidFill>
                  <a:srgbClr val="FBF3EF"/>
                </a:solidFill>
                <a:latin typeface="+mj-lt" pitchFamily="34" charset="0"/>
                <a:ea typeface="+mj-lt" pitchFamily="34" charset="-122"/>
                <a:cs typeface="+mj-lt" pitchFamily="34" charset="-120"/>
              </a:rPr>
              <a:t>± 1.6 %</a:t>
            </a:r>
            <a:endParaRPr lang="en-US" sz="4800" dirty="0"/>
          </a:p>
        </p:txBody>
      </p:sp>
      <p:sp>
        <p:nvSpPr>
          <p:cNvPr id="7" name="Text 5"/>
          <p:cNvSpPr txBox="1"/>
          <p:nvPr/>
        </p:nvSpPr>
        <p:spPr>
          <a:xfrm>
            <a:off x="3840480" y="3611880"/>
            <a:ext cx="3017520" cy="365760"/>
          </a:xfrm>
          <a:prstGeom prst="rect">
            <a:avLst/>
          </a:prstGeom>
          <a:noFill/>
          <a:ln/>
        </p:spPr>
        <p:txBody>
          <a:bodyPr wrap="square" lIns="0" tIns="0" rIns="0" bIns="0" rtlCol="0" anchor="t"/>
          <a:lstStyle/>
          <a:p>
            <a:pPr indent="0" marL="0">
              <a:buNone/>
            </a:pPr>
            <a:r>
              <a:rPr lang="en-US" sz="1600" dirty="0">
                <a:solidFill>
                  <a:srgbClr val="FBF3EF"/>
                </a:solidFill>
              </a:rPr>
              <a:t>on the swirl rhythm</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tx1"/>
                </a:solidFill>
                <a:latin typeface="+mj-lt" pitchFamily="34" charset="0"/>
                <a:ea typeface="+mj-lt" pitchFamily="34" charset="-122"/>
                <a:cs typeface="+mj-lt" pitchFamily="34" charset="-120"/>
              </a:rPr>
              <a:t>Accurate is not the same as true</a:t>
            </a:r>
            <a:endParaRPr lang="en-US" sz="3000" dirty="0"/>
          </a:p>
        </p:txBody>
      </p:sp>
      <p:sp>
        <p:nvSpPr>
          <p:cNvPr id="3" name="Card Done: verification"/>
          <p:cNvSpPr/>
          <p:nvPr/>
        </p:nvSpPr>
        <p:spPr>
          <a:xfrm>
            <a:off x="548640" y="1325880"/>
            <a:ext cx="2499360" cy="3200400"/>
          </a:xfrm>
          <a:prstGeom prst="roundRect">
            <a:avLst>
              <a:gd name="adj" fmla="val 4390"/>
            </a:avLst>
          </a:prstGeom>
          <a:solidFill>
            <a:schemeClr val="bg2"/>
          </a:solidFill>
          <a:ln w="12700">
            <a:solidFill>
              <a:srgbClr val="E4E1D8"/>
            </a:solidFill>
            <a:prstDash val="solid"/>
          </a:ln>
        </p:spPr>
      </p:sp>
      <p:pic>
        <p:nvPicPr>
          <p:cNvPr id="4" name="Icon Done: verification" descr="preencoded.png">    </p:cNvPr>
          <p:cNvPicPr>
            <a:picLocks noChangeAspect="1"/>
          </p:cNvPicPr>
          <p:nvPr/>
        </p:nvPicPr>
        <p:blipFill>
          <a:blip r:embed="rId1"/>
          <a:stretch>
            <a:fillRect/>
          </a:stretch>
        </p:blipFill>
        <p:spPr>
          <a:xfrm>
            <a:off x="822960" y="1600200"/>
            <a:ext cx="457200" cy="457200"/>
          </a:xfrm>
          <a:prstGeom prst="rect">
            <a:avLst/>
          </a:prstGeom>
        </p:spPr>
      </p:pic>
      <p:sp>
        <p:nvSpPr>
          <p:cNvPr id="5" name="Text 2"/>
          <p:cNvSpPr txBox="1"/>
          <p:nvPr/>
        </p:nvSpPr>
        <p:spPr>
          <a:xfrm>
            <a:off x="822960" y="2240280"/>
            <a:ext cx="1950720" cy="6858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Done: verification</a:t>
            </a:r>
            <a:endParaRPr lang="en-US" sz="2000" dirty="0"/>
          </a:p>
        </p:txBody>
      </p:sp>
      <p:sp>
        <p:nvSpPr>
          <p:cNvPr id="6" name="Text 3"/>
          <p:cNvSpPr txBox="1"/>
          <p:nvPr/>
        </p:nvSpPr>
        <p:spPr>
          <a:xfrm>
            <a:off x="822960" y="2971800"/>
            <a:ext cx="1950720" cy="14173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The computer solves its equations correctly, with a known, small error.</a:t>
            </a:r>
            <a:endParaRPr lang="en-US" sz="1500" dirty="0"/>
          </a:p>
        </p:txBody>
      </p:sp>
      <p:sp>
        <p:nvSpPr>
          <p:cNvPr id="7" name="Card Next: validation"/>
          <p:cNvSpPr/>
          <p:nvPr/>
        </p:nvSpPr>
        <p:spPr>
          <a:xfrm>
            <a:off x="3322320" y="1325880"/>
            <a:ext cx="2499360" cy="3200400"/>
          </a:xfrm>
          <a:prstGeom prst="roundRect">
            <a:avLst>
              <a:gd name="adj" fmla="val 4390"/>
            </a:avLst>
          </a:prstGeom>
          <a:solidFill>
            <a:schemeClr val="bg2"/>
          </a:solidFill>
          <a:ln w="12700">
            <a:solidFill>
              <a:srgbClr val="E4E1D8"/>
            </a:solidFill>
            <a:prstDash val="solid"/>
          </a:ln>
        </p:spPr>
      </p:sp>
      <p:pic>
        <p:nvPicPr>
          <p:cNvPr id="8" name="Icon Next: validation" descr="preencoded.png">    </p:cNvPr>
          <p:cNvPicPr>
            <a:picLocks noChangeAspect="1"/>
          </p:cNvPicPr>
          <p:nvPr/>
        </p:nvPicPr>
        <p:blipFill>
          <a:blip r:embed="rId2"/>
          <a:stretch>
            <a:fillRect/>
          </a:stretch>
        </p:blipFill>
        <p:spPr>
          <a:xfrm>
            <a:off x="3596640" y="1600200"/>
            <a:ext cx="457200" cy="457200"/>
          </a:xfrm>
          <a:prstGeom prst="rect">
            <a:avLst/>
          </a:prstGeom>
        </p:spPr>
      </p:pic>
      <p:sp>
        <p:nvSpPr>
          <p:cNvPr id="9" name="Text 5"/>
          <p:cNvSpPr txBox="1"/>
          <p:nvPr/>
        </p:nvSpPr>
        <p:spPr>
          <a:xfrm>
            <a:off x="3596640" y="2240280"/>
            <a:ext cx="1950720" cy="6858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Next: validation</a:t>
            </a:r>
            <a:endParaRPr lang="en-US" sz="2000" dirty="0"/>
          </a:p>
        </p:txBody>
      </p:sp>
      <p:sp>
        <p:nvSpPr>
          <p:cNvPr id="10" name="Text 6"/>
          <p:cNvSpPr txBox="1"/>
          <p:nvPr/>
        </p:nvSpPr>
        <p:spPr>
          <a:xfrm>
            <a:off x="3596640" y="2971800"/>
            <a:ext cx="1950720" cy="14173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Compare with wind-tunnel measurements to see if the equations describe real air.</a:t>
            </a:r>
            <a:endParaRPr lang="en-US" sz="1500" dirty="0"/>
          </a:p>
        </p:txBody>
      </p:sp>
      <p:sp>
        <p:nvSpPr>
          <p:cNvPr id="11" name="Card Known simplifications"/>
          <p:cNvSpPr/>
          <p:nvPr/>
        </p:nvSpPr>
        <p:spPr>
          <a:xfrm>
            <a:off x="6096000" y="1325880"/>
            <a:ext cx="2499360" cy="3200400"/>
          </a:xfrm>
          <a:prstGeom prst="roundRect">
            <a:avLst>
              <a:gd name="adj" fmla="val 4390"/>
            </a:avLst>
          </a:prstGeom>
          <a:solidFill>
            <a:schemeClr val="bg2"/>
          </a:solidFill>
          <a:ln w="12700">
            <a:solidFill>
              <a:srgbClr val="E4E1D8"/>
            </a:solidFill>
            <a:prstDash val="solid"/>
          </a:ln>
        </p:spPr>
      </p:sp>
      <p:pic>
        <p:nvPicPr>
          <p:cNvPr id="12" name="Icon Known simplifications" descr="preencoded.png">    </p:cNvPr>
          <p:cNvPicPr>
            <a:picLocks noChangeAspect="1"/>
          </p:cNvPicPr>
          <p:nvPr/>
        </p:nvPicPr>
        <p:blipFill>
          <a:blip r:embed="rId3"/>
          <a:stretch>
            <a:fillRect/>
          </a:stretch>
        </p:blipFill>
        <p:spPr>
          <a:xfrm>
            <a:off x="6370320" y="1600200"/>
            <a:ext cx="457200" cy="457200"/>
          </a:xfrm>
          <a:prstGeom prst="rect">
            <a:avLst/>
          </a:prstGeom>
        </p:spPr>
      </p:pic>
      <p:sp>
        <p:nvSpPr>
          <p:cNvPr id="13" name="Text 8"/>
          <p:cNvSpPr txBox="1"/>
          <p:nvPr/>
        </p:nvSpPr>
        <p:spPr>
          <a:xfrm>
            <a:off x="6370320" y="2240280"/>
            <a:ext cx="1950720" cy="6858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Known simplifications</a:t>
            </a:r>
            <a:endParaRPr lang="en-US" sz="2000" dirty="0"/>
          </a:p>
        </p:txBody>
      </p:sp>
      <p:sp>
        <p:nvSpPr>
          <p:cNvPr id="14" name="Text 9"/>
          <p:cNvSpPr txBox="1"/>
          <p:nvPr/>
        </p:nvSpPr>
        <p:spPr>
          <a:xfrm>
            <a:off x="6370320" y="2971800"/>
            <a:ext cx="1950720" cy="14173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A flat slice instead of a full 3-D pole, and an approximate model of turbulence.</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000" b="1" dirty="0">
                <a:solidFill>
                  <a:schemeClr val="bg1"/>
                </a:solidFill>
                <a:latin typeface="+mj-lt" pitchFamily="34" charset="0"/>
                <a:ea typeface="+mj-lt" pitchFamily="34" charset="-122"/>
                <a:cs typeface="+mj-lt" pitchFamily="34" charset="-120"/>
              </a:rPr>
              <a:t>What it is for</a:t>
            </a:r>
            <a:endParaRPr lang="en-US" sz="3000" dirty="0"/>
          </a:p>
        </p:txBody>
      </p:sp>
      <p:pic>
        <p:nvPicPr>
          <p:cNvPr id="3" name="Icon Safer structures." descr="preencoded.png">    </p:cNvPr>
          <p:cNvPicPr>
            <a:picLocks noChangeAspect="1"/>
          </p:cNvPicPr>
          <p:nvPr/>
        </p:nvPicPr>
        <p:blipFill>
          <a:blip r:embed="rId1"/>
          <a:stretch>
            <a:fillRect/>
          </a:stretch>
        </p:blipFill>
        <p:spPr>
          <a:xfrm>
            <a:off x="548640" y="1417320"/>
            <a:ext cx="502920" cy="502920"/>
          </a:xfrm>
          <a:prstGeom prst="rect">
            <a:avLst/>
          </a:prstGeom>
        </p:spPr>
      </p:pic>
      <p:sp>
        <p:nvSpPr>
          <p:cNvPr id="4" name="Point 1"/>
          <p:cNvSpPr txBox="1"/>
          <p:nvPr/>
        </p:nvSpPr>
        <p:spPr>
          <a:xfrm>
            <a:off x="1325880" y="1280160"/>
            <a:ext cx="7269480" cy="960120"/>
          </a:xfrm>
          <a:prstGeom prst="rect">
            <a:avLst/>
          </a:prstGeom>
          <a:noFill/>
          <a:ln/>
        </p:spPr>
        <p:txBody>
          <a:bodyPr wrap="square" lIns="0" tIns="0" rIns="0" bIns="0" rtlCol="0" anchor="ctr"/>
          <a:lstStyle/>
          <a:p>
            <a:pPr indent="0" marL="0">
              <a:buNone/>
            </a:pPr>
            <a:r>
              <a:rPr lang="en-US" sz="1800" b="1" dirty="0">
                <a:solidFill>
                  <a:schemeClr val="bg1"/>
                </a:solidFill>
              </a:rPr>
              <a:t>Safer structures. </a:t>
            </a:r>
            <a:pPr indent="0" marL="0">
              <a:buNone/>
            </a:pPr>
            <a:r>
              <a:rPr lang="en-US" sz="1800" dirty="0">
                <a:solidFill>
                  <a:schemeClr val="bg1"/>
                </a:solidFill>
              </a:rPr>
              <a:t>Engineers use numbers like these to size poles, chimneys and cables, and to keep their natural sway away from the rhythm of the swirls.</a:t>
            </a:r>
            <a:endParaRPr lang="en-US" sz="1800" dirty="0"/>
          </a:p>
        </p:txBody>
      </p:sp>
      <p:pic>
        <p:nvPicPr>
          <p:cNvPr id="5" name="Icon A habit worth having." descr="preencoded.png">    </p:cNvPr>
          <p:cNvPicPr>
            <a:picLocks noChangeAspect="1"/>
          </p:cNvPicPr>
          <p:nvPr/>
        </p:nvPicPr>
        <p:blipFill>
          <a:blip r:embed="rId2"/>
          <a:stretch>
            <a:fillRect/>
          </a:stretch>
        </p:blipFill>
        <p:spPr>
          <a:xfrm>
            <a:off x="548640" y="2606040"/>
            <a:ext cx="502920" cy="502920"/>
          </a:xfrm>
          <a:prstGeom prst="rect">
            <a:avLst/>
          </a:prstGeom>
        </p:spPr>
      </p:pic>
      <p:sp>
        <p:nvSpPr>
          <p:cNvPr id="6" name="Point 2"/>
          <p:cNvSpPr txBox="1"/>
          <p:nvPr/>
        </p:nvSpPr>
        <p:spPr>
          <a:xfrm>
            <a:off x="1325880" y="2468880"/>
            <a:ext cx="7269480" cy="960120"/>
          </a:xfrm>
          <a:prstGeom prst="rect">
            <a:avLst/>
          </a:prstGeom>
          <a:noFill/>
          <a:ln/>
        </p:spPr>
        <p:txBody>
          <a:bodyPr wrap="square" lIns="0" tIns="0" rIns="0" bIns="0" rtlCol="0" anchor="ctr"/>
          <a:lstStyle/>
          <a:p>
            <a:pPr indent="0" marL="0">
              <a:buNone/>
            </a:pPr>
            <a:r>
              <a:rPr lang="en-US" sz="1800" b="1" dirty="0">
                <a:solidFill>
                  <a:schemeClr val="bg1"/>
                </a:solidFill>
              </a:rPr>
              <a:t>A habit worth having. </a:t>
            </a:r>
            <a:pPr indent="0" marL="0">
              <a:buNone/>
            </a:pPr>
            <a:r>
              <a:rPr lang="en-US" sz="1800" dirty="0">
                <a:solidFill>
                  <a:schemeClr val="bg1"/>
                </a:solidFill>
              </a:rPr>
              <a:t>Any simulation, of weather, cars or traffic, should be checked like this before its answer is trusted.</a:t>
            </a:r>
            <a:endParaRPr lang="en-US" sz="1800" dirty="0"/>
          </a:p>
        </p:txBody>
      </p:sp>
      <p:sp>
        <p:nvSpPr>
          <p:cNvPr id="7" name="Closing line"/>
          <p:cNvSpPr txBox="1"/>
          <p:nvPr/>
        </p:nvSpPr>
        <p:spPr>
          <a:xfrm>
            <a:off x="548640" y="3931920"/>
            <a:ext cx="8046720" cy="457200"/>
          </a:xfrm>
          <a:prstGeom prst="rect">
            <a:avLst/>
          </a:prstGeom>
          <a:noFill/>
          <a:ln/>
        </p:spPr>
        <p:txBody>
          <a:bodyPr wrap="square" lIns="0" tIns="0" rIns="0" bIns="0" rtlCol="0" anchor="t"/>
          <a:lstStyle/>
          <a:p>
            <a:pPr indent="0" marL="0">
              <a:buNone/>
            </a:pPr>
            <a:r>
              <a:rPr lang="en-US" sz="2200" b="1" dirty="0">
                <a:solidFill>
                  <a:schemeClr val="accent3"/>
                </a:solidFill>
                <a:latin typeface="+mj-lt" pitchFamily="34" charset="0"/>
                <a:ea typeface="+mj-lt" pitchFamily="34" charset="-122"/>
                <a:cs typeface="+mj-lt" pitchFamily="34" charset="-120"/>
              </a:rPr>
              <a:t>Check the computer first; then check it against reality.</a:t>
            </a:r>
            <a:endParaRPr lang="en-US" sz="2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Wind Past a Cylinder">
  <a:themeElements>
    <a:clrScheme name="Wind Past a Cylinder">
      <a:dk1>
        <a:srgbClr val="14213D"/>
      </a:dk1>
      <a:lt1>
        <a:srgbClr val="F7F5EF"/>
      </a:lt1>
      <a:dk2>
        <a:srgbClr val="4A5160"/>
      </a:dk2>
      <a:lt2>
        <a:srgbClr val="FDFCF9"/>
      </a:lt2>
      <a:accent1>
        <a:srgbClr val="C2483B"/>
      </a:accent1>
      <a:accent2>
        <a:srgbClr val="2F5D8A"/>
      </a:accent2>
      <a:accent3>
        <a:srgbClr val="E8A598"/>
      </a:accent3>
      <a:accent4>
        <a:srgbClr val="9CC0E6"/>
      </a:accent4>
      <a:accent5>
        <a:srgbClr val="6A7179"/>
      </a:accent5>
      <a:accent6>
        <a:srgbClr val="C9D3E3"/>
      </a:accent6>
      <a:hlink>
        <a:srgbClr val="2F5D8A"/>
      </a:hlink>
      <a:folHlink>
        <a:srgbClr val="6A7179"/>
      </a:folHlink>
    </a:clrScheme>
    <a:fontScheme name="Wind Past a Cyli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 Past a Cylinder</dc:title>
  <dc:subject>PptxGenJS Presentation</dc:subject>
  <dc:creator>Adriel</dc:creator>
  <cp:lastModifiedBy>Adriel</cp:lastModifiedBy>
  <cp:revision>1</cp:revision>
  <dcterms:created xsi:type="dcterms:W3CDTF">2026-10-12T08:47:25Z</dcterms:created>
  <dcterms:modified xsi:type="dcterms:W3CDTF">2026-10-12T08:47:25Z</dcterms:modified>
</cp:coreProperties>
</file>