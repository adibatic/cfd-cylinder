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f0db5f7-6681-6543-8ca3-1f0d330f22d0}">
          <p14:sldIdLst>
            <p14:sldId id="256"/>
            <p14:sldId id="257"/>
          </p14:sldIdLst>
        </p14:section>
        <p14:section name="What was done" id="{8d6cd9d4-1a1f-323c-9b98-a553cd2b546c}">
          <p14:sldIdLst>
            <p14:sldId id="258"/>
          </p14:sldIdLst>
        </p14:section>
        <p14:section name="Results" id="{a35880a5-a0bc-b52c-74f6-b2027fcf8133}">
          <p14:sldIdLst>
            <p14:sldId id="259"/>
            <p14:sldId id="260"/>
          </p14:sldIdLst>
        </p14:section>
        <p14:section name="Can we trust it" id="{b63ab78c-d7f9-8c65-0f70-d59869baeda7}">
          <p14:sldIdLst>
            <p14:sldId id="261"/>
            <p14:sldId id="262"/>
          </p14:sldIdLst>
        </p14:section>
        <p14:section name="Limits and purpose" id="{cdd00c75-6bd8-9011-c352-3d7fdf43c39b}">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like to show you a computer simulation I did. This is the result: air flowing left to right past a round pole, seen from above. Red and blue are swirls of air spinning opposite ways.
[If asked about wind direction:] Left to right, a steady 10 m/s, no gusts.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 does two things to a round pole: it pushes it back, and it sheds swirls that tug it side to side. The tugs are small but rhythmic, like pushing a swing at the right moment, so they can build up into large vibrations.
[If asked about the pole's natural frequency:] Not in this model: the pole is rigid and fixed. The simulation gives the swirl rhythm; the pole's own rhythm depends on its height, material and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computer splits the air into up to 38,000 small cells and solves the equations of air motion in each one, 20,000 times per simulated second. The cells are smallest next to the pole, where the air changes fastest. It runs on free software, OpenFOAM, on my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called a von Karman vortex street; you see it in clouds behind islands and in a flapping flag. Each swirl tugs the pole sideways. One full back-and-forth happens about 25 times a second.
[If asked about the colors:] Red spins counterclockwise, blue clockwise; the stronger the color, the faster the spin.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meter of pole: a steady push of 6 newtons, about the weight of a 600 g bag of sugar, and a sideways tug of about the same size, swinging back and forth 25 times a second. For tall, thin structures, the rhythm matters more than the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know the computer is right? I ran it three times with smaller and smaller cells. From medium to fine, every answer changed by less than 2 %, and the time-step test agreed. That check is called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computer's own error is about half a percent on the push and under 2 % on the rhythm. That means the equations are solved accurately, not yet that they match real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is done. Validation, comparing with wind-tunnel measurements, is not. The model is also simplified: a 2-D slice and approximate turbulence. Only measurements can show how much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compare with wind-tunnel data; take a real pole and find the wind speeds where its own rhythm matches the swirls; and let the pole move in the simulation to see how much it shakes.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takeaways: engineers use numbers like these to keep structures safe from wind-induced vibration, and any simulation should be checked like this before you trust it.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chemeClr val="accent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457200"/>
            <a:ext cx="8046720" cy="274320"/>
          </a:xfrm>
          <a:prstGeom prst="rect">
            <a:avLst/>
          </a:prstGeom>
          <a:noFill/>
          <a:ln/>
        </p:spPr>
        <p:txBody>
          <a:bodyPr wrap="square" lIns="0" tIns="0" rIns="0" bIns="0" rtlCol="0" anchor="t"/>
          <a:lstStyle/>
          <a:p>
            <a:pPr indent="0" marL="0">
              <a:buNone/>
            </a:pPr>
            <a:r>
              <a:rPr lang="en-US" sz="1200" spc="200" kern="0" dirty="0">
                <a:solidFill>
                  <a:schemeClr val="accent3"/>
                </a:solidFill>
              </a:rPr>
              <a:t>A COMPUTER EXPERIMENT</a:t>
            </a:r>
            <a:endParaRPr lang="en-US" sz="1200" dirty="0"/>
          </a:p>
        </p:txBody>
      </p:sp>
      <p:sp>
        <p:nvSpPr>
          <p:cNvPr id="3" name="Cover title"/>
          <p:cNvSpPr txBox="1"/>
          <p:nvPr/>
        </p:nvSpPr>
        <p:spPr>
          <a:xfrm>
            <a:off x="548640" y="777240"/>
            <a:ext cx="8046720" cy="731520"/>
          </a:xfrm>
          <a:prstGeom prst="rect">
            <a:avLst/>
          </a:prstGeom>
          <a:noFill/>
          <a:ln/>
        </p:spPr>
        <p:txBody>
          <a:bodyPr wrap="square" lIns="0" tIns="0" rIns="0" bIns="0" rtlCol="0" anchor="t"/>
          <a:lstStyle/>
          <a:p>
            <a:pPr indent="0" marL="0">
              <a:buNone/>
            </a:pPr>
            <a:r>
              <a:rPr lang="en-US" sz="4000" b="1" dirty="0">
                <a:solidFill>
                  <a:schemeClr val="bg1"/>
                </a:solidFill>
                <a:latin typeface="+mj-lt" pitchFamily="34" charset="0"/>
                <a:ea typeface="+mj-lt" pitchFamily="34" charset="-122"/>
                <a:cs typeface="+mj-lt" pitchFamily="34" charset="-120"/>
              </a:rPr>
              <a:t>When wind meets a pole</a:t>
            </a:r>
            <a:endParaRPr lang="en-US" sz="4000" dirty="0"/>
          </a:p>
        </p:txBody>
      </p:sp>
      <p:sp>
        <p:nvSpPr>
          <p:cNvPr id="4" name="Subtitle"/>
          <p:cNvSpPr txBox="1"/>
          <p:nvPr/>
        </p:nvSpPr>
        <p:spPr>
          <a:xfrm>
            <a:off x="548640" y="1554480"/>
            <a:ext cx="7498080" cy="685800"/>
          </a:xfrm>
          <a:prstGeom prst="rect">
            <a:avLst/>
          </a:prstGeom>
          <a:noFill/>
          <a:ln/>
        </p:spPr>
        <p:txBody>
          <a:bodyPr wrap="square" lIns="0" tIns="0" rIns="0" bIns="0" rtlCol="0" anchor="t"/>
          <a:lstStyle/>
          <a:p>
            <a:pPr indent="0" marL="0">
              <a:buNone/>
            </a:pPr>
            <a:r>
              <a:rPr lang="en-US" sz="1800" dirty="0">
                <a:solidFill>
                  <a:schemeClr val="accent6"/>
                </a:solidFill>
              </a:rPr>
              <a:t>What happens when air flows past a round object, and how we know the computer's answer can be trusted</a:t>
            </a:r>
            <a:endParaRPr lang="en-US" sz="1800" dirty="0"/>
          </a:p>
        </p:txBody>
      </p:sp>
      <p:pic>
        <p:nvPicPr>
          <p:cNvPr id="5" name="Vortex animation" descr="Simulated air flow behind a cylinder: red and blue swirls peel off alternately and drift downstream">    </p:cNvPr>
          <p:cNvPicPr>
            <a:picLocks noChangeAspect="1"/>
          </p:cNvPicPr>
          <p:nvPr/>
        </p:nvPicPr>
        <p:blipFill>
          <a:blip r:embed="rId1"/>
          <a:stretch>
            <a:fillRect/>
          </a:stretch>
        </p:blipFill>
        <p:spPr>
          <a:xfrm>
            <a:off x="548640" y="2487168"/>
            <a:ext cx="6744511" cy="2377440"/>
          </a:xfrm>
          <a:prstGeom prst="rect">
            <a:avLst/>
          </a:prstGeom>
        </p:spPr>
      </p:pic>
      <p:sp>
        <p:nvSpPr>
          <p:cNvPr id="7"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Why wind around round things matters</a:t>
            </a:r>
            <a:endParaRPr lang="en-US" sz="3000" dirty="0"/>
          </a:p>
        </p:txBody>
      </p:sp>
      <p:sp>
        <p:nvSpPr>
          <p:cNvPr id="3" name="Card It pushes"/>
          <p:cNvSpPr/>
          <p:nvPr/>
        </p:nvSpPr>
        <p:spPr>
          <a:xfrm>
            <a:off x="548640" y="1417320"/>
            <a:ext cx="2499360" cy="3108960"/>
          </a:xfrm>
          <a:prstGeom prst="roundRect">
            <a:avLst>
              <a:gd name="adj" fmla="val 4390"/>
            </a:avLst>
          </a:prstGeom>
          <a:solidFill>
            <a:schemeClr val="bg2"/>
          </a:solidFill>
          <a:ln w="12700">
            <a:solidFill>
              <a:srgbClr val="E4E1D8"/>
            </a:solidFill>
            <a:prstDash val="solid"/>
          </a:ln>
        </p:spPr>
      </p:sp>
      <p:pic>
        <p:nvPicPr>
          <p:cNvPr id="4" name="Icon It pushes" descr="preencoded.png">    </p:cNvPr>
          <p:cNvPicPr>
            <a:picLocks noChangeAspect="1"/>
          </p:cNvPicPr>
          <p:nvPr/>
        </p:nvPicPr>
        <p:blipFill>
          <a:blip r:embed="rId1"/>
          <a:stretch>
            <a:fillRect/>
          </a:stretch>
        </p:blipFill>
        <p:spPr>
          <a:xfrm>
            <a:off x="822960" y="1691640"/>
            <a:ext cx="457200" cy="457200"/>
          </a:xfrm>
          <a:prstGeom prst="rect">
            <a:avLst/>
          </a:prstGeom>
        </p:spPr>
      </p:pic>
      <p:sp>
        <p:nvSpPr>
          <p:cNvPr id="5" name="Text 2"/>
          <p:cNvSpPr txBox="1"/>
          <p:nvPr/>
        </p:nvSpPr>
        <p:spPr>
          <a:xfrm>
            <a:off x="82296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pushes</a:t>
            </a:r>
            <a:endParaRPr lang="en-US" sz="2000" dirty="0"/>
          </a:p>
        </p:txBody>
      </p:sp>
      <p:sp>
        <p:nvSpPr>
          <p:cNvPr id="6" name="Text 3"/>
          <p:cNvSpPr txBox="1"/>
          <p:nvPr/>
        </p:nvSpPr>
        <p:spPr>
          <a:xfrm>
            <a:off x="82296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Wind pushes a pole, chimney or cable backwards. Engineers need that force to make it strong enough.</a:t>
            </a:r>
            <a:endParaRPr lang="en-US" sz="1500" dirty="0"/>
          </a:p>
        </p:txBody>
      </p:sp>
      <p:sp>
        <p:nvSpPr>
          <p:cNvPr id="7" name="Card It shakes"/>
          <p:cNvSpPr/>
          <p:nvPr/>
        </p:nvSpPr>
        <p:spPr>
          <a:xfrm>
            <a:off x="3322320" y="1417320"/>
            <a:ext cx="2499360" cy="3108960"/>
          </a:xfrm>
          <a:prstGeom prst="roundRect">
            <a:avLst>
              <a:gd name="adj" fmla="val 4390"/>
            </a:avLst>
          </a:prstGeom>
          <a:solidFill>
            <a:schemeClr val="bg2"/>
          </a:solidFill>
          <a:ln w="12700">
            <a:solidFill>
              <a:srgbClr val="E4E1D8"/>
            </a:solidFill>
            <a:prstDash val="solid"/>
          </a:ln>
        </p:spPr>
      </p:sp>
      <p:pic>
        <p:nvPicPr>
          <p:cNvPr id="8" name="Icon It shakes" descr="preencoded.png">    </p:cNvPr>
          <p:cNvPicPr>
            <a:picLocks noChangeAspect="1"/>
          </p:cNvPicPr>
          <p:nvPr/>
        </p:nvPicPr>
        <p:blipFill>
          <a:blip r:embed="rId2"/>
          <a:stretch>
            <a:fillRect/>
          </a:stretch>
        </p:blipFill>
        <p:spPr>
          <a:xfrm>
            <a:off x="3596640" y="1691640"/>
            <a:ext cx="457200" cy="457200"/>
          </a:xfrm>
          <a:prstGeom prst="rect">
            <a:avLst/>
          </a:prstGeom>
        </p:spPr>
      </p:pic>
      <p:sp>
        <p:nvSpPr>
          <p:cNvPr id="9" name="Text 5"/>
          <p:cNvSpPr txBox="1"/>
          <p:nvPr/>
        </p:nvSpPr>
        <p:spPr>
          <a:xfrm>
            <a:off x="359664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shakes</a:t>
            </a:r>
            <a:endParaRPr lang="en-US" sz="2000" dirty="0"/>
          </a:p>
        </p:txBody>
      </p:sp>
      <p:sp>
        <p:nvSpPr>
          <p:cNvPr id="10" name="Text 6"/>
          <p:cNvSpPr txBox="1"/>
          <p:nvPr/>
        </p:nvSpPr>
        <p:spPr>
          <a:xfrm>
            <a:off x="359664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Swirls of air break off on alternate sides and tug the object sideways, back and forth, at a steady rhythm.</a:t>
            </a:r>
            <a:endParaRPr lang="en-US" sz="1500" dirty="0"/>
          </a:p>
        </p:txBody>
      </p:sp>
      <p:sp>
        <p:nvSpPr>
          <p:cNvPr id="11" name="Card It can resonate"/>
          <p:cNvSpPr/>
          <p:nvPr/>
        </p:nvSpPr>
        <p:spPr>
          <a:xfrm>
            <a:off x="6096000" y="1417320"/>
            <a:ext cx="2499360" cy="3108960"/>
          </a:xfrm>
          <a:prstGeom prst="roundRect">
            <a:avLst>
              <a:gd name="adj" fmla="val 4390"/>
            </a:avLst>
          </a:prstGeom>
          <a:solidFill>
            <a:schemeClr val="bg2"/>
          </a:solidFill>
          <a:ln w="12700">
            <a:solidFill>
              <a:srgbClr val="E4E1D8"/>
            </a:solidFill>
            <a:prstDash val="solid"/>
          </a:ln>
        </p:spPr>
      </p:sp>
      <p:pic>
        <p:nvPicPr>
          <p:cNvPr id="12" name="Icon It can resonate" descr="preencoded.png">    </p:cNvPr>
          <p:cNvPicPr>
            <a:picLocks noChangeAspect="1"/>
          </p:cNvPicPr>
          <p:nvPr/>
        </p:nvPicPr>
        <p:blipFill>
          <a:blip r:embed="rId3"/>
          <a:stretch>
            <a:fillRect/>
          </a:stretch>
        </p:blipFill>
        <p:spPr>
          <a:xfrm>
            <a:off x="6370320" y="1691640"/>
            <a:ext cx="457200" cy="457200"/>
          </a:xfrm>
          <a:prstGeom prst="rect">
            <a:avLst/>
          </a:prstGeom>
        </p:spPr>
      </p:pic>
      <p:sp>
        <p:nvSpPr>
          <p:cNvPr id="13" name="Text 8"/>
          <p:cNvSpPr txBox="1"/>
          <p:nvPr/>
        </p:nvSpPr>
        <p:spPr>
          <a:xfrm>
            <a:off x="637032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can resonate</a:t>
            </a:r>
            <a:endParaRPr lang="en-US" sz="2000" dirty="0"/>
          </a:p>
        </p:txBody>
      </p:sp>
      <p:sp>
        <p:nvSpPr>
          <p:cNvPr id="14" name="Text 9"/>
          <p:cNvSpPr txBox="1"/>
          <p:nvPr/>
        </p:nvSpPr>
        <p:spPr>
          <a:xfrm>
            <a:off x="637032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If that rhythm matches the structure's own natural swing, small tugs add up to large vibrations.</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The experiment, inside a computer</a:t>
            </a:r>
            <a:endParaRPr lang="en-US" sz="3000" dirty="0"/>
          </a:p>
        </p:txBody>
      </p:sp>
      <p:sp>
        <p:nvSpPr>
          <p:cNvPr id="3" name="Setup bullets"/>
          <p:cNvSpPr txBox="1"/>
          <p:nvPr/>
        </p:nvSpPr>
        <p:spPr>
          <a:xfrm>
            <a:off x="548640" y="1417320"/>
            <a:ext cx="4754880" cy="310896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tx1"/>
                </a:solidFill>
              </a:rPr>
              <a:t>A round pole 10 cm wide, in a steady breeze of 10 m/s (36 km/h)</a:t>
            </a:r>
            <a:endParaRPr lang="en-US" sz="1800" dirty="0"/>
          </a:p>
          <a:p>
            <a:pPr marL="228600" indent="-228600">
              <a:spcAft>
                <a:spcPts val="1200"/>
              </a:spcAft>
              <a:buSzPct val="100000"/>
              <a:buChar char="•"/>
            </a:pPr>
            <a:r>
              <a:rPr lang="en-US" sz="1800" dirty="0">
                <a:solidFill>
                  <a:schemeClr val="tx1"/>
                </a:solidFill>
              </a:rPr>
              <a:t>The air around it is cut into up to 38,000 small cells</a:t>
            </a:r>
            <a:endParaRPr lang="en-US" sz="1800" dirty="0"/>
          </a:p>
          <a:p>
            <a:pPr marL="228600" indent="-228600">
              <a:spcAft>
                <a:spcPts val="1200"/>
              </a:spcAft>
              <a:buSzPct val="100000"/>
              <a:buChar char="•"/>
            </a:pPr>
            <a:r>
              <a:rPr lang="en-US" sz="1800" dirty="0">
                <a:solidFill>
                  <a:schemeClr val="tx1"/>
                </a:solidFill>
              </a:rPr>
              <a:t>In every cell, the laws of air motion are solved, 20,000 times for every second of flow</a:t>
            </a:r>
            <a:endParaRPr lang="en-US" sz="1800" dirty="0"/>
          </a:p>
          <a:p>
            <a:pPr marL="228600" indent="-228600">
              <a:spcAft>
                <a:spcPts val="1200"/>
              </a:spcAft>
              <a:buSzPct val="100000"/>
              <a:buChar char="•"/>
            </a:pPr>
            <a:r>
              <a:rPr lang="en-US" sz="1800" dirty="0">
                <a:solidFill>
                  <a:schemeClr val="tx1"/>
                </a:solidFill>
              </a:rPr>
              <a:t>Free, open-source software: OpenFOAM, on a laptop</a:t>
            </a:r>
            <a:endParaRPr lang="en-US" sz="1800" dirty="0"/>
          </a:p>
        </p:txBody>
      </p:sp>
      <p:pic>
        <p:nvPicPr>
          <p:cNvPr id="4" name="Mesh sketch" descr="Sketch of the computational grid: thin rings of cells hug the cylinder and grow larger farther away">    </p:cNvPr>
          <p:cNvPicPr>
            <a:picLocks noChangeAspect="1"/>
          </p:cNvPicPr>
          <p:nvPr/>
        </p:nvPicPr>
        <p:blipFill>
          <a:blip r:embed="rId1"/>
          <a:stretch>
            <a:fillRect/>
          </a:stretch>
        </p:blipFill>
        <p:spPr>
          <a:xfrm>
            <a:off x="5623560" y="1325880"/>
            <a:ext cx="2971800" cy="2971800"/>
          </a:xfrm>
          <a:prstGeom prst="rect">
            <a:avLst/>
          </a:prstGeom>
        </p:spPr>
      </p:pic>
      <p:sp>
        <p:nvSpPr>
          <p:cNvPr id="5" name="Text 2"/>
          <p:cNvSpPr txBox="1"/>
          <p:nvPr/>
        </p:nvSpPr>
        <p:spPr>
          <a:xfrm>
            <a:off x="5623560" y="4389120"/>
            <a:ext cx="2971800" cy="274320"/>
          </a:xfrm>
          <a:prstGeom prst="rect">
            <a:avLst/>
          </a:prstGeom>
          <a:noFill/>
          <a:ln/>
        </p:spPr>
        <p:txBody>
          <a:bodyPr wrap="square" lIns="0" tIns="0" rIns="0" bIns="0" rtlCol="0" anchor="t"/>
          <a:lstStyle/>
          <a:p>
            <a:pPr algn="ctr" indent="0" marL="0">
              <a:buNone/>
            </a:pPr>
            <a:r>
              <a:rPr lang="en-US" sz="1100" i="1" dirty="0">
                <a:solidFill>
                  <a:schemeClr val="accent5"/>
                </a:solidFill>
              </a:rPr>
              <a:t>Simplified sketch of the grid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the computer showed: a trail of swirls</a:t>
            </a:r>
            <a:endParaRPr lang="en-US" sz="3000" dirty="0"/>
          </a:p>
        </p:txBody>
      </p:sp>
      <p:pic>
        <p:nvPicPr>
          <p:cNvPr id="3" name="Vortex strip" descr="Swirls of air peeling off the cylinder, alternating red (counter-clockwise) and blue (clockwise), drifting downstream">    </p:cNvPr>
          <p:cNvPicPr>
            <a:picLocks noChangeAspect="1"/>
          </p:cNvPicPr>
          <p:nvPr/>
        </p:nvPicPr>
        <p:blipFill>
          <a:blip r:embed="rId1"/>
          <a:stretch>
            <a:fillRect/>
          </a:stretch>
        </p:blipFill>
        <p:spPr>
          <a:xfrm>
            <a:off x="548640" y="1325880"/>
            <a:ext cx="8046720" cy="2306726"/>
          </a:xfrm>
          <a:prstGeom prst="rect">
            <a:avLst/>
          </a:prstGeom>
        </p:spPr>
      </p:pic>
      <p:sp>
        <p:nvSpPr>
          <p:cNvPr id="4" name="Caption"/>
          <p:cNvSpPr txBox="1"/>
          <p:nvPr/>
        </p:nvSpPr>
        <p:spPr>
          <a:xfrm>
            <a:off x="548640" y="3794760"/>
            <a:ext cx="8046720" cy="822960"/>
          </a:xfrm>
          <a:prstGeom prst="rect">
            <a:avLst/>
          </a:prstGeom>
          <a:noFill/>
          <a:ln/>
        </p:spPr>
        <p:txBody>
          <a:bodyPr wrap="square" lIns="0" tIns="0" rIns="0" bIns="0" rtlCol="0" anchor="t"/>
          <a:lstStyle/>
          <a:p>
            <a:pPr indent="0" marL="0">
              <a:spcAft>
                <a:spcPts val="400"/>
              </a:spcAft>
              <a:buNone/>
            </a:pPr>
            <a:r>
              <a:rPr lang="en-US" sz="1800" dirty="0">
                <a:solidFill>
                  <a:schemeClr val="accent6"/>
                </a:solidFill>
              </a:rPr>
              <a:t>Red swirls spin one way, blue the other.</a:t>
            </a:r>
            <a:endParaRPr lang="en-US" sz="1800" dirty="0"/>
          </a:p>
          <a:p>
            <a:pPr indent="0" marL="0">
              <a:spcAft>
                <a:spcPts val="400"/>
              </a:spcAft>
              <a:buNone/>
            </a:pPr>
            <a:r>
              <a:rPr lang="en-US" sz="1800" dirty="0">
                <a:solidFill>
                  <a:schemeClr val="accent6"/>
                </a:solidFill>
              </a:rPr>
              <a:t>A pair, one top and one bottom, breaks off about 25 times a second.</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the wind does to every meter of pole</a:t>
            </a:r>
            <a:endParaRPr lang="en-US" sz="3000" dirty="0"/>
          </a:p>
        </p:txBody>
      </p:sp>
      <p:sp>
        <p:nvSpPr>
          <p:cNvPr id="3" name="Card Push backwards"/>
          <p:cNvSpPr/>
          <p:nvPr/>
        </p:nvSpPr>
        <p:spPr>
          <a:xfrm>
            <a:off x="548640" y="1325880"/>
            <a:ext cx="3840480" cy="2880360"/>
          </a:xfrm>
          <a:prstGeom prst="roundRect">
            <a:avLst>
              <a:gd name="adj" fmla="val 3810"/>
            </a:avLst>
          </a:prstGeom>
          <a:solidFill>
            <a:schemeClr val="bg2"/>
          </a:solidFill>
          <a:ln w="12700">
            <a:solidFill>
              <a:srgbClr val="E4E1D8"/>
            </a:solidFill>
            <a:prstDash val="solid"/>
          </a:ln>
        </p:spPr>
      </p:sp>
      <p:pic>
        <p:nvPicPr>
          <p:cNvPr id="4" name="Icon Push backwards" descr="preencoded.png">    </p:cNvPr>
          <p:cNvPicPr>
            <a:picLocks noChangeAspect="1"/>
          </p:cNvPicPr>
          <p:nvPr/>
        </p:nvPicPr>
        <p:blipFill>
          <a:blip r:embed="rId1"/>
          <a:stretch>
            <a:fillRect/>
          </a:stretch>
        </p:blipFill>
        <p:spPr>
          <a:xfrm>
            <a:off x="868680" y="1600200"/>
            <a:ext cx="411480" cy="411480"/>
          </a:xfrm>
          <a:prstGeom prst="rect">
            <a:avLst/>
          </a:prstGeom>
        </p:spPr>
      </p:pic>
      <p:sp>
        <p:nvSpPr>
          <p:cNvPr id="5" name="Text 2"/>
          <p:cNvSpPr txBox="1"/>
          <p:nvPr/>
        </p:nvSpPr>
        <p:spPr>
          <a:xfrm>
            <a:off x="141732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Push backwards</a:t>
            </a:r>
            <a:endParaRPr lang="en-US" sz="2000" dirty="0"/>
          </a:p>
        </p:txBody>
      </p:sp>
      <p:sp>
        <p:nvSpPr>
          <p:cNvPr id="6" name="Text 3"/>
          <p:cNvSpPr txBox="1"/>
          <p:nvPr/>
        </p:nvSpPr>
        <p:spPr>
          <a:xfrm>
            <a:off x="868680" y="2148840"/>
            <a:ext cx="3200400" cy="91440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6 N</a:t>
            </a:r>
            <a:endParaRPr lang="en-US" sz="5400" dirty="0"/>
          </a:p>
        </p:txBody>
      </p:sp>
      <p:sp>
        <p:nvSpPr>
          <p:cNvPr id="7" name="Text 4"/>
          <p:cNvSpPr txBox="1"/>
          <p:nvPr/>
        </p:nvSpPr>
        <p:spPr>
          <a:xfrm>
            <a:off x="86868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steady, about the weight of a 600 g bag of sugar hanging from each meter</a:t>
            </a:r>
            <a:endParaRPr lang="en-US" sz="1500" dirty="0"/>
          </a:p>
        </p:txBody>
      </p:sp>
      <p:sp>
        <p:nvSpPr>
          <p:cNvPr id="8" name="Card Tug sideways"/>
          <p:cNvSpPr/>
          <p:nvPr/>
        </p:nvSpPr>
        <p:spPr>
          <a:xfrm>
            <a:off x="4754880" y="1325880"/>
            <a:ext cx="3840480" cy="2880360"/>
          </a:xfrm>
          <a:prstGeom prst="roundRect">
            <a:avLst>
              <a:gd name="adj" fmla="val 3810"/>
            </a:avLst>
          </a:prstGeom>
          <a:solidFill>
            <a:schemeClr val="bg2"/>
          </a:solidFill>
          <a:ln w="12700">
            <a:solidFill>
              <a:srgbClr val="E4E1D8"/>
            </a:solidFill>
            <a:prstDash val="solid"/>
          </a:ln>
        </p:spPr>
      </p:sp>
      <p:pic>
        <p:nvPicPr>
          <p:cNvPr id="9" name="Icon Tug sideways" descr="preencoded.png">    </p:cNvPr>
          <p:cNvPicPr>
            <a:picLocks noChangeAspect="1"/>
          </p:cNvPicPr>
          <p:nvPr/>
        </p:nvPicPr>
        <p:blipFill>
          <a:blip r:embed="rId2"/>
          <a:stretch>
            <a:fillRect/>
          </a:stretch>
        </p:blipFill>
        <p:spPr>
          <a:xfrm>
            <a:off x="5074920" y="1600200"/>
            <a:ext cx="411480" cy="411480"/>
          </a:xfrm>
          <a:prstGeom prst="rect">
            <a:avLst/>
          </a:prstGeom>
        </p:spPr>
      </p:pic>
      <p:sp>
        <p:nvSpPr>
          <p:cNvPr id="10" name="Text 6"/>
          <p:cNvSpPr txBox="1"/>
          <p:nvPr/>
        </p:nvSpPr>
        <p:spPr>
          <a:xfrm>
            <a:off x="562356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Tug sideways</a:t>
            </a:r>
            <a:endParaRPr lang="en-US" sz="2000" dirty="0"/>
          </a:p>
        </p:txBody>
      </p:sp>
      <p:sp>
        <p:nvSpPr>
          <p:cNvPr id="11" name="Text 7"/>
          <p:cNvSpPr txBox="1"/>
          <p:nvPr/>
        </p:nvSpPr>
        <p:spPr>
          <a:xfrm>
            <a:off x="5074920" y="2148840"/>
            <a:ext cx="3200400" cy="914400"/>
          </a:xfrm>
          <a:prstGeom prst="rect">
            <a:avLst/>
          </a:prstGeom>
          <a:noFill/>
          <a:ln/>
        </p:spPr>
        <p:txBody>
          <a:bodyPr wrap="square" lIns="0" tIns="0" rIns="0" bIns="0" rtlCol="0" anchor="ctr"/>
          <a:lstStyle/>
          <a:p>
            <a:pPr indent="0" marL="0">
              <a:buNone/>
            </a:pPr>
            <a:r>
              <a:rPr lang="en-US" sz="5400" b="1" dirty="0">
                <a:solidFill>
                  <a:schemeClr val="accent2"/>
                </a:solidFill>
                <a:latin typeface="+mj-lt" pitchFamily="34" charset="0"/>
                <a:ea typeface="+mj-lt" pitchFamily="34" charset="-122"/>
                <a:cs typeface="+mj-lt" pitchFamily="34" charset="-120"/>
              </a:rPr>
              <a:t>± 6.6 N</a:t>
            </a:r>
            <a:endParaRPr lang="en-US" sz="5400" dirty="0"/>
          </a:p>
        </p:txBody>
      </p:sp>
      <p:sp>
        <p:nvSpPr>
          <p:cNvPr id="12" name="Text 8"/>
          <p:cNvSpPr txBox="1"/>
          <p:nvPr/>
        </p:nvSpPr>
        <p:spPr>
          <a:xfrm>
            <a:off x="507492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swinging smoothly back and forth, 25 full swings a second, one for each pair of swirls</a:t>
            </a:r>
            <a:endParaRPr lang="en-US" sz="1500" dirty="0"/>
          </a:p>
        </p:txBody>
      </p:sp>
      <p:sp>
        <p:nvSpPr>
          <p:cNvPr id="13" name="Footnote"/>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200" i="1" dirty="0">
                <a:solidFill>
                  <a:schemeClr val="accent5"/>
                </a:solidFill>
              </a:rPr>
              <a:t>For a 10 cm pole in a 10 m/s breeze. N = newton, the unit of force.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Can we trust the computer? Ask it three times</a:t>
            </a:r>
            <a:endParaRPr lang="en-US" sz="3000" dirty="0"/>
          </a:p>
        </p:txBody>
      </p:sp>
      <p:sp>
        <p:nvSpPr>
          <p:cNvPr id="3" name="Intro"/>
          <p:cNvSpPr txBox="1"/>
          <p:nvPr/>
        </p:nvSpPr>
        <p:spPr>
          <a:xfrm>
            <a:off x="548640" y="1097280"/>
            <a:ext cx="8046720" cy="594360"/>
          </a:xfrm>
          <a:prstGeom prst="rect">
            <a:avLst/>
          </a:prstGeom>
          <a:noFill/>
          <a:ln/>
        </p:spPr>
        <p:txBody>
          <a:bodyPr wrap="square" lIns="0" tIns="0" rIns="0" bIns="0" rtlCol="0" anchor="t"/>
          <a:lstStyle/>
          <a:p>
            <a:pPr indent="0" marL="0">
              <a:buNone/>
            </a:pPr>
            <a:r>
              <a:rPr lang="en-US" sz="1600" dirty="0">
                <a:solidFill>
                  <a:schemeClr val="tx2"/>
                </a:solidFill>
              </a:rPr>
              <a:t>The same flow, solved on a coarse, a medium and a fine grid. If the answers stop changing as the cells shrink, the cells are small enough.</a:t>
            </a:r>
            <a:endParaRPr lang="en-US" sz="1600" dirty="0"/>
          </a:p>
        </p:txBody>
      </p:sp>
      <p:graphicFrame>
        <p:nvGraphicFramePr>
          <p:cNvPr id="7" name="Grid table"/>
          <p:cNvGraphicFramePr>
            <a:graphicFrameLocks noGrp="1"/>
          </p:cNvGraphicFramePr>
          <p:nvPr>
            <p:extLst>
              <p:ext uri="{D42A27DB-BD31-4B8C-83A1-F6EECF244321}">
                <p14:modId xmlns:p14="http://schemas.microsoft.com/office/powerpoint/2010/main" val="1579011935"/>
              </p:ext>
            </p:extLst>
          </p:nvPr>
        </p:nvGraphicFramePr>
        <p:xfrm>
          <a:off x="548640" y="1874520"/>
          <a:ext cx="8046720" cy="914400"/>
        </p:xfrm>
        <a:graphic>
          <a:graphicData uri="http://schemas.openxmlformats.org/drawingml/2006/table">
            <a:tbl>
              <a:tblPr/>
              <a:tblGrid>
                <a:gridCol w="2194560"/>
                <a:gridCol w="1920240"/>
                <a:gridCol w="1965960"/>
                <a:gridCol w="1965960"/>
              </a:tblGrid>
              <a:tr h="411480">
                <a:tc>
                  <a:txBody>
                    <a:bodyPr/>
                    <a:lstStyle/>
                    <a:p>
                      <a:pPr algn="l" indent="0" marL="0">
                        <a:buNone/>
                      </a:pPr>
                      <a:r>
                        <a:rPr lang="en-US" sz="1600" b="1" dirty="0">
                          <a:solidFill>
                            <a:schemeClr val="bg1"/>
                          </a:solidFill>
                        </a:rPr>
                        <a:t>Grid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Cells</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Swirls per second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Push (N per 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r>
              <a:tr h="411480">
                <a:tc>
                  <a:txBody>
                    <a:bodyPr/>
                    <a:lstStyle/>
                    <a:p>
                      <a:pPr algn="l" indent="0" marL="0">
                        <a:buNone/>
                      </a:pPr>
                      <a:r>
                        <a:rPr lang="en-US" sz="1600" dirty="0">
                          <a:solidFill>
                            <a:schemeClr val="tx1"/>
                          </a:solidFill>
                        </a:rPr>
                        <a:t>Coarse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7,578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23.9</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6.26</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r h="411480">
                <a:tc>
                  <a:txBody>
                    <a:bodyPr/>
                    <a:lstStyle/>
                    <a:p>
                      <a:pPr algn="l" indent="0" marL="0">
                        <a:buNone/>
                      </a:pPr>
                      <a:r>
                        <a:rPr lang="en-US" sz="1600" dirty="0">
                          <a:solidFill>
                            <a:schemeClr val="tx1"/>
                          </a:solidFill>
                        </a:rPr>
                        <a:t>Medium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17,092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24.7</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6.15</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r>
              <a:tr h="411480">
                <a:tc>
                  <a:txBody>
                    <a:bodyPr/>
                    <a:lstStyle/>
                    <a:p>
                      <a:pPr algn="l" indent="0" marL="0">
                        <a:buNone/>
                      </a:pPr>
                      <a:r>
                        <a:rPr lang="en-US" sz="1600" dirty="0">
                          <a:solidFill>
                            <a:schemeClr val="tx1"/>
                          </a:solidFill>
                        </a:rPr>
                        <a:t>Fine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38,418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25.1</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6.12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bl>
          </a:graphicData>
        </a:graphic>
      </p:graphicFrame>
      <p:sp>
        <p:nvSpPr>
          <p:cNvPr id="5" name="Conclusion"/>
          <p:cNvSpPr txBox="1"/>
          <p:nvPr/>
        </p:nvSpPr>
        <p:spPr>
          <a:xfrm>
            <a:off x="548640" y="3840480"/>
            <a:ext cx="8046720" cy="594360"/>
          </a:xfrm>
          <a:prstGeom prst="rect">
            <a:avLst/>
          </a:prstGeom>
          <a:noFill/>
          <a:ln/>
        </p:spPr>
        <p:txBody>
          <a:bodyPr wrap="square" lIns="0" tIns="0" rIns="0" bIns="0" rtlCol="0" anchor="t"/>
          <a:lstStyle/>
          <a:p>
            <a:pPr indent="0" marL="0">
              <a:buNone/>
            </a:pPr>
            <a:r>
              <a:rPr lang="en-US" sz="1600" b="1" dirty="0">
                <a:solidFill>
                  <a:schemeClr val="tx1"/>
                </a:solidFill>
              </a:rPr>
              <a:t>Medium to fine: every answer moved by less than 2 %. </a:t>
            </a:r>
            <a:pPr indent="0" marL="0">
              <a:buNone/>
            </a:pPr>
            <a:r>
              <a:rPr lang="en-US" sz="1600" dirty="0">
                <a:solidFill>
                  <a:schemeClr val="tx1"/>
                </a:solidFill>
              </a:rPr>
              <a:t>The same test with three time-step sizes agreed too.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640080"/>
            <a:ext cx="8046720" cy="274320"/>
          </a:xfrm>
          <a:prstGeom prst="rect">
            <a:avLst/>
          </a:prstGeom>
          <a:noFill/>
          <a:ln/>
        </p:spPr>
        <p:txBody>
          <a:bodyPr wrap="square" lIns="0" tIns="0" rIns="0" bIns="0" rtlCol="0" anchor="t"/>
          <a:lstStyle/>
          <a:p>
            <a:pPr indent="0" marL="0">
              <a:buNone/>
            </a:pPr>
            <a:r>
              <a:rPr lang="en-US" sz="1300" spc="200" kern="0" dirty="0">
                <a:solidFill>
                  <a:srgbClr val="FBF3EF"/>
                </a:solidFill>
              </a:rPr>
              <a:t>THE VERDICT</a:t>
            </a:r>
            <a:endParaRPr lang="en-US" sz="1300" dirty="0"/>
          </a:p>
        </p:txBody>
      </p:sp>
      <p:sp>
        <p:nvSpPr>
          <p:cNvPr id="3" name="Verdict title"/>
          <p:cNvSpPr txBox="1"/>
          <p:nvPr/>
        </p:nvSpPr>
        <p:spPr>
          <a:xfrm>
            <a:off x="548640" y="1005840"/>
            <a:ext cx="7680960" cy="1371600"/>
          </a:xfrm>
          <a:prstGeom prst="rect">
            <a:avLst/>
          </a:prstGeom>
          <a:noFill/>
          <a:ln/>
        </p:spPr>
        <p:txBody>
          <a:bodyPr wrap="square" lIns="0" tIns="0" rIns="0" bIns="0" rtlCol="0" anchor="t"/>
          <a:lstStyle/>
          <a:p>
            <a:pPr indent="0" marL="0">
              <a:buNone/>
            </a:pPr>
            <a:r>
              <a:rPr lang="en-US" sz="3600" b="1" dirty="0">
                <a:solidFill>
                  <a:srgbClr val="FBF3EF"/>
                </a:solidFill>
                <a:latin typeface="+mj-lt" pitchFamily="34" charset="0"/>
                <a:ea typeface="+mj-lt" pitchFamily="34" charset="-122"/>
                <a:cs typeface="+mj-lt" pitchFamily="34" charset="-120"/>
              </a:rPr>
              <a:t>The computer's own error is small, and we know how small</a:t>
            </a:r>
            <a:endParaRPr lang="en-US" sz="3600" dirty="0"/>
          </a:p>
        </p:txBody>
      </p:sp>
      <p:sp>
        <p:nvSpPr>
          <p:cNvPr id="4" name="Stat on the push"/>
          <p:cNvSpPr txBox="1"/>
          <p:nvPr/>
        </p:nvSpPr>
        <p:spPr>
          <a:xfrm>
            <a:off x="54864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0.4 %</a:t>
            </a:r>
            <a:endParaRPr lang="en-US" sz="4800" dirty="0"/>
          </a:p>
        </p:txBody>
      </p:sp>
      <p:sp>
        <p:nvSpPr>
          <p:cNvPr id="5" name="Text 3"/>
          <p:cNvSpPr txBox="1"/>
          <p:nvPr/>
        </p:nvSpPr>
        <p:spPr>
          <a:xfrm>
            <a:off x="54864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push</a:t>
            </a:r>
            <a:endParaRPr lang="en-US" sz="1600" dirty="0"/>
          </a:p>
        </p:txBody>
      </p:sp>
      <p:sp>
        <p:nvSpPr>
          <p:cNvPr id="6" name="Stat on the swirl rhythm"/>
          <p:cNvSpPr txBox="1"/>
          <p:nvPr/>
        </p:nvSpPr>
        <p:spPr>
          <a:xfrm>
            <a:off x="384048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1.6 %</a:t>
            </a:r>
            <a:endParaRPr lang="en-US" sz="4800" dirty="0"/>
          </a:p>
        </p:txBody>
      </p:sp>
      <p:sp>
        <p:nvSpPr>
          <p:cNvPr id="7" name="Text 5"/>
          <p:cNvSpPr txBox="1"/>
          <p:nvPr/>
        </p:nvSpPr>
        <p:spPr>
          <a:xfrm>
            <a:off x="384048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swirl rhythm</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Accurate is not the same as true</a:t>
            </a:r>
            <a:endParaRPr lang="en-US" sz="3000" dirty="0"/>
          </a:p>
        </p:txBody>
      </p:sp>
      <p:sp>
        <p:nvSpPr>
          <p:cNvPr id="3" name="Card Done: verification"/>
          <p:cNvSpPr/>
          <p:nvPr/>
        </p:nvSpPr>
        <p:spPr>
          <a:xfrm>
            <a:off x="548640" y="1325880"/>
            <a:ext cx="2499360" cy="3200400"/>
          </a:xfrm>
          <a:prstGeom prst="roundRect">
            <a:avLst>
              <a:gd name="adj" fmla="val 4390"/>
            </a:avLst>
          </a:prstGeom>
          <a:solidFill>
            <a:schemeClr val="bg2"/>
          </a:solidFill>
          <a:ln w="12700">
            <a:solidFill>
              <a:srgbClr val="E4E1D8"/>
            </a:solidFill>
            <a:prstDash val="solid"/>
          </a:ln>
        </p:spPr>
      </p:sp>
      <p:pic>
        <p:nvPicPr>
          <p:cNvPr id="4" name="Icon Done: verification"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Done: verification</a:t>
            </a:r>
            <a:endParaRPr lang="en-US" sz="2000" dirty="0"/>
          </a:p>
        </p:txBody>
      </p:sp>
      <p:sp>
        <p:nvSpPr>
          <p:cNvPr id="6" name="Text 3"/>
          <p:cNvSpPr txBox="1"/>
          <p:nvPr/>
        </p:nvSpPr>
        <p:spPr>
          <a:xfrm>
            <a:off x="82296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The computer solves its equations correctly, with a known, small error.</a:t>
            </a:r>
            <a:endParaRPr lang="en-US" sz="1500" dirty="0"/>
          </a:p>
        </p:txBody>
      </p:sp>
      <p:sp>
        <p:nvSpPr>
          <p:cNvPr id="7" name="Card Not yet: validation"/>
          <p:cNvSpPr/>
          <p:nvPr/>
        </p:nvSpPr>
        <p:spPr>
          <a:xfrm>
            <a:off x="3322320" y="1325880"/>
            <a:ext cx="2499360" cy="3200400"/>
          </a:xfrm>
          <a:prstGeom prst="roundRect">
            <a:avLst>
              <a:gd name="adj" fmla="val 4390"/>
            </a:avLst>
          </a:prstGeom>
          <a:solidFill>
            <a:schemeClr val="bg2"/>
          </a:solidFill>
          <a:ln w="12700">
            <a:solidFill>
              <a:srgbClr val="E4E1D8"/>
            </a:solidFill>
            <a:prstDash val="solid"/>
          </a:ln>
        </p:spPr>
      </p:sp>
      <p:pic>
        <p:nvPicPr>
          <p:cNvPr id="8" name="Icon Not yet: validation"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Not yet: validation</a:t>
            </a:r>
            <a:endParaRPr lang="en-US" sz="2000" dirty="0"/>
          </a:p>
        </p:txBody>
      </p:sp>
      <p:sp>
        <p:nvSpPr>
          <p:cNvPr id="10" name="Text 6"/>
          <p:cNvSpPr txBox="1"/>
          <p:nvPr/>
        </p:nvSpPr>
        <p:spPr>
          <a:xfrm>
            <a:off x="359664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Comparing with wind-tunnel measurements, to see if the equations describe real air, is future work.</a:t>
            </a:r>
            <a:endParaRPr lang="en-US" sz="1500" dirty="0"/>
          </a:p>
        </p:txBody>
      </p:sp>
      <p:sp>
        <p:nvSpPr>
          <p:cNvPr id="11" name="Card Known simplifications"/>
          <p:cNvSpPr/>
          <p:nvPr/>
        </p:nvSpPr>
        <p:spPr>
          <a:xfrm>
            <a:off x="6096000" y="1325880"/>
            <a:ext cx="2499360" cy="3200400"/>
          </a:xfrm>
          <a:prstGeom prst="roundRect">
            <a:avLst>
              <a:gd name="adj" fmla="val 4390"/>
            </a:avLst>
          </a:prstGeom>
          <a:solidFill>
            <a:schemeClr val="bg2"/>
          </a:solidFill>
          <a:ln w="12700">
            <a:solidFill>
              <a:srgbClr val="E4E1D8"/>
            </a:solidFill>
            <a:prstDash val="solid"/>
          </a:ln>
        </p:spPr>
      </p:sp>
      <p:pic>
        <p:nvPicPr>
          <p:cNvPr id="12" name="Icon Known simplifications"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Known simplifications</a:t>
            </a:r>
            <a:endParaRPr lang="en-US" sz="2000" dirty="0"/>
          </a:p>
        </p:txBody>
      </p:sp>
      <p:sp>
        <p:nvSpPr>
          <p:cNvPr id="14" name="Text 9"/>
          <p:cNvSpPr txBox="1"/>
          <p:nvPr/>
        </p:nvSpPr>
        <p:spPr>
          <a:xfrm>
            <a:off x="637032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A flat slice instead of a full 3-D pole, and an approximate model of turbulence.</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comes next</a:t>
            </a:r>
            <a:endParaRPr lang="en-US" sz="3000" dirty="0"/>
          </a:p>
        </p:txBody>
      </p:sp>
      <p:sp>
        <p:nvSpPr>
          <p:cNvPr id="3" name="Card Check against real air"/>
          <p:cNvSpPr/>
          <p:nvPr/>
        </p:nvSpPr>
        <p:spPr>
          <a:xfrm>
            <a:off x="548640" y="1325880"/>
            <a:ext cx="2499360" cy="3017520"/>
          </a:xfrm>
          <a:prstGeom prst="roundRect">
            <a:avLst>
              <a:gd name="adj" fmla="val 4390"/>
            </a:avLst>
          </a:prstGeom>
          <a:solidFill>
            <a:schemeClr val="bg2"/>
          </a:solidFill>
          <a:ln w="12700">
            <a:solidFill>
              <a:srgbClr val="E4E1D8"/>
            </a:solidFill>
            <a:prstDash val="solid"/>
          </a:ln>
        </p:spPr>
      </p:sp>
      <p:pic>
        <p:nvPicPr>
          <p:cNvPr id="4" name="Icon Check against real air"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Check against real air</a:t>
            </a:r>
            <a:endParaRPr lang="en-US" sz="2000" dirty="0"/>
          </a:p>
        </p:txBody>
      </p:sp>
      <p:sp>
        <p:nvSpPr>
          <p:cNvPr id="6" name="Text 3"/>
          <p:cNvSpPr txBox="1"/>
          <p:nvPr/>
        </p:nvSpPr>
        <p:spPr>
          <a:xfrm>
            <a:off x="82296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Compare with wind-tunnel measurements, to learn how close the computer is to reality.</a:t>
            </a:r>
            <a:endParaRPr lang="en-US" sz="1500" dirty="0"/>
          </a:p>
        </p:txBody>
      </p:sp>
      <p:sp>
        <p:nvSpPr>
          <p:cNvPr id="7" name="Card Test a real pole"/>
          <p:cNvSpPr/>
          <p:nvPr/>
        </p:nvSpPr>
        <p:spPr>
          <a:xfrm>
            <a:off x="3322320" y="1325880"/>
            <a:ext cx="2499360" cy="3017520"/>
          </a:xfrm>
          <a:prstGeom prst="roundRect">
            <a:avLst>
              <a:gd name="adj" fmla="val 4390"/>
            </a:avLst>
          </a:prstGeom>
          <a:solidFill>
            <a:schemeClr val="bg2"/>
          </a:solidFill>
          <a:ln w="12700">
            <a:solidFill>
              <a:srgbClr val="E4E1D8"/>
            </a:solidFill>
            <a:prstDash val="solid"/>
          </a:ln>
        </p:spPr>
      </p:sp>
      <p:pic>
        <p:nvPicPr>
          <p:cNvPr id="8" name="Icon Test a real pole"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Test a real pole</a:t>
            </a:r>
            <a:endParaRPr lang="en-US" sz="2000" dirty="0"/>
          </a:p>
        </p:txBody>
      </p:sp>
      <p:sp>
        <p:nvSpPr>
          <p:cNvPr id="10" name="Text 6"/>
          <p:cNvSpPr txBox="1"/>
          <p:nvPr/>
        </p:nvSpPr>
        <p:spPr>
          <a:xfrm>
            <a:off x="359664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Find a real pole's own swing rhythm, and the wind speeds where the swirls match it.</a:t>
            </a:r>
            <a:endParaRPr lang="en-US" sz="1500" dirty="0"/>
          </a:p>
        </p:txBody>
      </p:sp>
      <p:sp>
        <p:nvSpPr>
          <p:cNvPr id="11" name="Card Let the pole move"/>
          <p:cNvSpPr/>
          <p:nvPr/>
        </p:nvSpPr>
        <p:spPr>
          <a:xfrm>
            <a:off x="6096000" y="1325880"/>
            <a:ext cx="2499360" cy="3017520"/>
          </a:xfrm>
          <a:prstGeom prst="roundRect">
            <a:avLst>
              <a:gd name="adj" fmla="val 4390"/>
            </a:avLst>
          </a:prstGeom>
          <a:solidFill>
            <a:schemeClr val="bg2"/>
          </a:solidFill>
          <a:ln w="12700">
            <a:solidFill>
              <a:srgbClr val="E4E1D8"/>
            </a:solidFill>
            <a:prstDash val="solid"/>
          </a:ln>
        </p:spPr>
      </p:sp>
      <p:pic>
        <p:nvPicPr>
          <p:cNvPr id="12" name="Icon Let the pole move"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Let the pole move</a:t>
            </a:r>
            <a:endParaRPr lang="en-US" sz="2000" dirty="0"/>
          </a:p>
        </p:txBody>
      </p:sp>
      <p:sp>
        <p:nvSpPr>
          <p:cNvPr id="14" name="Text 9"/>
          <p:cNvSpPr txBox="1"/>
          <p:nvPr/>
        </p:nvSpPr>
        <p:spPr>
          <a:xfrm>
            <a:off x="637032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Simulate a pole that can sway, to see how far it would actually shake.</a:t>
            </a:r>
            <a:endParaRPr lang="en-US" sz="1500" dirty="0"/>
          </a:p>
        </p:txBody>
      </p:sp>
      <p:sp>
        <p:nvSpPr>
          <p:cNvPr id="15" name="Footnote"/>
          <p:cNvSpPr txBox="1"/>
          <p:nvPr/>
        </p:nvSpPr>
        <p:spPr>
          <a:xfrm>
            <a:off x="548640" y="4462272"/>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Also: a full 3-D pole, other turbulence models, and more wind speeds.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it is for</a:t>
            </a:r>
            <a:endParaRPr lang="en-US" sz="3000" dirty="0"/>
          </a:p>
        </p:txBody>
      </p:sp>
      <p:pic>
        <p:nvPicPr>
          <p:cNvPr id="3" name="Icon Safer structures." descr="preencoded.png">    </p:cNvPr>
          <p:cNvPicPr>
            <a:picLocks noChangeAspect="1"/>
          </p:cNvPicPr>
          <p:nvPr/>
        </p:nvPicPr>
        <p:blipFill>
          <a:blip r:embed="rId1"/>
          <a:stretch>
            <a:fillRect/>
          </a:stretch>
        </p:blipFill>
        <p:spPr>
          <a:xfrm>
            <a:off x="548640" y="1417320"/>
            <a:ext cx="502920" cy="502920"/>
          </a:xfrm>
          <a:prstGeom prst="rect">
            <a:avLst/>
          </a:prstGeom>
        </p:spPr>
      </p:pic>
      <p:sp>
        <p:nvSpPr>
          <p:cNvPr id="4" name="Point 1"/>
          <p:cNvSpPr txBox="1"/>
          <p:nvPr/>
        </p:nvSpPr>
        <p:spPr>
          <a:xfrm>
            <a:off x="1325880" y="128016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Safer structures. </a:t>
            </a:r>
            <a:pPr indent="0" marL="0">
              <a:buNone/>
            </a:pPr>
            <a:r>
              <a:rPr lang="en-US" sz="1800" dirty="0">
                <a:solidFill>
                  <a:schemeClr val="bg1"/>
                </a:solidFill>
              </a:rPr>
              <a:t>Engineers use numbers like these to size poles, chimneys and cables, and to keep their natural sway away from the rhythm of the swirls.</a:t>
            </a:r>
            <a:endParaRPr lang="en-US" sz="1800" dirty="0"/>
          </a:p>
        </p:txBody>
      </p:sp>
      <p:pic>
        <p:nvPicPr>
          <p:cNvPr id="5" name="Icon A habit worth having." descr="preencoded.png">    </p:cNvPr>
          <p:cNvPicPr>
            <a:picLocks noChangeAspect="1"/>
          </p:cNvPicPr>
          <p:nvPr/>
        </p:nvPicPr>
        <p:blipFill>
          <a:blip r:embed="rId2"/>
          <a:stretch>
            <a:fillRect/>
          </a:stretch>
        </p:blipFill>
        <p:spPr>
          <a:xfrm>
            <a:off x="548640" y="2606040"/>
            <a:ext cx="502920" cy="502920"/>
          </a:xfrm>
          <a:prstGeom prst="rect">
            <a:avLst/>
          </a:prstGeom>
        </p:spPr>
      </p:pic>
      <p:sp>
        <p:nvSpPr>
          <p:cNvPr id="6" name="Point 2"/>
          <p:cNvSpPr txBox="1"/>
          <p:nvPr/>
        </p:nvSpPr>
        <p:spPr>
          <a:xfrm>
            <a:off x="1325880" y="246888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A habit worth having. </a:t>
            </a:r>
            <a:pPr indent="0" marL="0">
              <a:buNone/>
            </a:pPr>
            <a:r>
              <a:rPr lang="en-US" sz="1800" dirty="0">
                <a:solidFill>
                  <a:schemeClr val="bg1"/>
                </a:solidFill>
              </a:rPr>
              <a:t>Any simulation, of weather, cars or traffic, should be checked like this before its answer is trusted.</a:t>
            </a:r>
            <a:endParaRPr lang="en-US" sz="1800" dirty="0"/>
          </a:p>
        </p:txBody>
      </p:sp>
      <p:sp>
        <p:nvSpPr>
          <p:cNvPr id="7" name="Closing line"/>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2200" b="1" dirty="0">
                <a:solidFill>
                  <a:schemeClr val="accent3"/>
                </a:solidFill>
                <a:latin typeface="+mj-lt" pitchFamily="34" charset="0"/>
                <a:ea typeface="+mj-lt" pitchFamily="34" charset="-122"/>
                <a:cs typeface="+mj-lt" pitchFamily="34" charset="-120"/>
              </a:rPr>
              <a:t>Check the computer first; then check it against reality.</a:t>
            </a:r>
            <a:endParaRPr lang="en-US" sz="2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Wind Past a Cylinder">
  <a:themeElements>
    <a:clrScheme name="Wind Past a Cylinder">
      <a:dk1>
        <a:srgbClr val="14213D"/>
      </a:dk1>
      <a:lt1>
        <a:srgbClr val="F7F5EF"/>
      </a:lt1>
      <a:dk2>
        <a:srgbClr val="4A5160"/>
      </a:dk2>
      <a:lt2>
        <a:srgbClr val="FDFCF9"/>
      </a:lt2>
      <a:accent1>
        <a:srgbClr val="C2483B"/>
      </a:accent1>
      <a:accent2>
        <a:srgbClr val="2F5D8A"/>
      </a:accent2>
      <a:accent3>
        <a:srgbClr val="E8A598"/>
      </a:accent3>
      <a:accent4>
        <a:srgbClr val="9CC0E6"/>
      </a:accent4>
      <a:accent5>
        <a:srgbClr val="6A7179"/>
      </a:accent5>
      <a:accent6>
        <a:srgbClr val="C9D3E3"/>
      </a:accent6>
      <a:hlink>
        <a:srgbClr val="2F5D8A"/>
      </a:hlink>
      <a:folHlink>
        <a:srgbClr val="6A7179"/>
      </a:folHlink>
    </a:clrScheme>
    <a:fontScheme name="Wind Past a Cyli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 Past a Cylinder</dc:title>
  <dc:subject>PptxGenJS Presentation</dc:subject>
  <dc:creator>Adriel</dc:creator>
  <cp:lastModifiedBy>Adriel</cp:lastModifiedBy>
  <cp:revision>1</cp:revision>
  <dcterms:created xsi:type="dcterms:W3CDTF">2026-10-12T16:42:22Z</dcterms:created>
  <dcterms:modified xsi:type="dcterms:W3CDTF">2026-10-12T16:42:22Z</dcterms:modified>
</cp:coreProperties>
</file>